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2" r:id="rId1"/>
  </p:sldMasterIdLst>
  <p:sldIdLst>
    <p:sldId id="256" r:id="rId2"/>
    <p:sldId id="257" r:id="rId3"/>
    <p:sldId id="261" r:id="rId4"/>
    <p:sldId id="258" r:id="rId5"/>
    <p:sldId id="259"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75D5"/>
    <a:srgbClr val="FC8814"/>
    <a:srgbClr val="007D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36142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222902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147002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43531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835675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620515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9224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30514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586783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図を追加</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882810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ja-JP" altLang="en-US" smtClean="0"/>
              <a:t>マスター タイトルの書式設定</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677891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ja-JP" altLang="en-US" smtClean="0"/>
              <a:t>マスター タイトルの書式設定</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33994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ja-JP" altLang="en-US" smtClean="0"/>
              <a:t>マスター タイトルの書式設定</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346949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ja-JP" altLang="en-US" smtClean="0"/>
              <a:t>マスター タイトルの書式設定</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710924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ja-JP" altLang="en-US" smtClean="0"/>
              <a:t>マスター タイトルの書式設定</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990877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652557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816681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74C8862-C2F6-4E47-986F-E6EA68565290}" type="datetimeFigureOut">
              <a:rPr kumimoji="1" lang="ja-JP" altLang="en-US" smtClean="0"/>
              <a:t>2025/12/15</a:t>
            </a:fld>
            <a:endParaRPr kumimoji="1" lang="ja-JP" alt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kumimoji="1" lang="ja-JP" alt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609822182"/>
      </p:ext>
    </p:extLst>
  </p:cSld>
  <p:clrMap bg1="dk1" tx1="lt1" bg2="dk2" tx2="lt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 id="2147484034" r:id="rId12"/>
    <p:sldLayoutId id="2147484035" r:id="rId13"/>
    <p:sldLayoutId id="2147484036" r:id="rId14"/>
    <p:sldLayoutId id="2147484037" r:id="rId15"/>
    <p:sldLayoutId id="2147484038" r:id="rId16"/>
    <p:sldLayoutId id="2147484039" r:id="rId17"/>
  </p:sldLayoutIdLst>
  <p:txStyles>
    <p:title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kumimoji="1"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kumimoji="1"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kumimoji="1"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lohmann/json" TargetMode="External"/><Relationship Id="rId2" Type="http://schemas.openxmlformats.org/officeDocument/2006/relationships/hyperlink" Target="https://dxlib.xsrv.jp/index.html"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effekseer.github.io/j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370693" y="2592491"/>
            <a:ext cx="9440034" cy="1133437"/>
          </a:xfrm>
        </p:spPr>
        <p:txBody>
          <a:bodyPr>
            <a:normAutofit/>
          </a:bodyPr>
          <a:lstStyle/>
          <a:p>
            <a:r>
              <a:rPr kumimoji="1" lang="en-US" altLang="ja-JP" sz="6600" dirty="0" smtClean="0"/>
              <a:t>Endless Encore</a:t>
            </a:r>
            <a:endParaRPr kumimoji="1" lang="ja-JP" altLang="en-US" sz="6600" dirty="0"/>
          </a:p>
        </p:txBody>
      </p:sp>
      <p:sp>
        <p:nvSpPr>
          <p:cNvPr id="3" name="サブタイトル 2"/>
          <p:cNvSpPr>
            <a:spLocks noGrp="1"/>
          </p:cNvSpPr>
          <p:nvPr>
            <p:ph type="subTitle" idx="1"/>
          </p:nvPr>
        </p:nvSpPr>
        <p:spPr>
          <a:xfrm>
            <a:off x="1370693" y="4427436"/>
            <a:ext cx="9440034" cy="434015"/>
          </a:xfrm>
        </p:spPr>
        <p:txBody>
          <a:bodyPr/>
          <a:lstStyle/>
          <a:p>
            <a:r>
              <a:rPr kumimoji="1" lang="en-US" altLang="ja-JP" dirty="0" smtClean="0">
                <a:effectLst>
                  <a:outerShdw blurRad="38100" dist="38100" dir="2700000" algn="tl">
                    <a:srgbClr val="000000">
                      <a:alpha val="43137"/>
                    </a:srgbClr>
                  </a:outerShdw>
                </a:effectLst>
              </a:rPr>
              <a:t>ASO</a:t>
            </a:r>
            <a:r>
              <a:rPr kumimoji="1" lang="ja-JP" altLang="en-US" dirty="0" smtClean="0">
                <a:effectLst>
                  <a:outerShdw blurRad="38100" dist="38100" dir="2700000" algn="tl">
                    <a:srgbClr val="000000">
                      <a:alpha val="43137"/>
                    </a:srgbClr>
                  </a:outerShdw>
                </a:effectLst>
              </a:rPr>
              <a:t>ポップカルチャー専門学校　ゲーム専攻科</a:t>
            </a:r>
            <a:r>
              <a:rPr kumimoji="1" lang="en-US" altLang="ja-JP" dirty="0" smtClean="0">
                <a:effectLst>
                  <a:outerShdw blurRad="38100" dist="38100" dir="2700000" algn="tl">
                    <a:srgbClr val="000000">
                      <a:alpha val="43137"/>
                    </a:srgbClr>
                  </a:outerShdw>
                </a:effectLst>
              </a:rPr>
              <a:t>3</a:t>
            </a:r>
            <a:r>
              <a:rPr kumimoji="1" lang="ja-JP" altLang="en-US" dirty="0" smtClean="0">
                <a:effectLst>
                  <a:outerShdw blurRad="38100" dist="38100" dir="2700000" algn="tl">
                    <a:srgbClr val="000000">
                      <a:alpha val="43137"/>
                    </a:srgbClr>
                  </a:outerShdw>
                </a:effectLst>
              </a:rPr>
              <a:t>年　善</a:t>
            </a:r>
            <a:r>
              <a:rPr kumimoji="1" lang="ja-JP" altLang="en-US" dirty="0" smtClean="0">
                <a:effectLst>
                  <a:outerShdw blurRad="38100" dist="38100" dir="2700000" algn="tl">
                    <a:srgbClr val="000000">
                      <a:alpha val="43137"/>
                    </a:srgbClr>
                  </a:outerShdw>
                </a:effectLst>
              </a:rPr>
              <a:t>原　敬子</a:t>
            </a:r>
            <a:endParaRPr kumimoji="1" lang="ja-JP" altLang="en-US" dirty="0">
              <a:effectLst>
                <a:outerShdw blurRad="38100" dist="38100" dir="2700000" algn="tl">
                  <a:srgbClr val="000000">
                    <a:alpha val="43137"/>
                  </a:srgbClr>
                </a:outerShdw>
              </a:effectLst>
            </a:endParaRPr>
          </a:p>
        </p:txBody>
      </p:sp>
      <p:sp>
        <p:nvSpPr>
          <p:cNvPr id="5" name="サブタイトル 2"/>
          <p:cNvSpPr txBox="1">
            <a:spLocks/>
          </p:cNvSpPr>
          <p:nvPr/>
        </p:nvSpPr>
        <p:spPr>
          <a:xfrm>
            <a:off x="4939994" y="3725928"/>
            <a:ext cx="2301432" cy="43401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kumimoji="1"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kumimoji="1"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kumimoji="1"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en-US" altLang="ja-JP" dirty="0" smtClean="0">
                <a:effectLst>
                  <a:outerShdw blurRad="38100" dist="38100" dir="2700000" algn="tl">
                    <a:srgbClr val="000000">
                      <a:alpha val="43137"/>
                    </a:srgbClr>
                  </a:outerShdw>
                </a:effectLst>
              </a:rPr>
              <a:t>3D</a:t>
            </a:r>
            <a:r>
              <a:rPr lang="ja-JP" altLang="en-US" dirty="0" smtClean="0">
                <a:effectLst>
                  <a:outerShdw blurRad="38100" dist="38100" dir="2700000" algn="tl">
                    <a:srgbClr val="000000">
                      <a:alpha val="43137"/>
                    </a:srgbClr>
                  </a:outerShdw>
                </a:effectLst>
              </a:rPr>
              <a:t>アクション</a:t>
            </a:r>
            <a:endParaRPr lang="ja-JP" alt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9279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3795" y="400050"/>
            <a:ext cx="10353762" cy="970450"/>
          </a:xfrm>
        </p:spPr>
        <p:txBody>
          <a:bodyPr/>
          <a:lstStyle/>
          <a:p>
            <a:r>
              <a:rPr kumimoji="1" lang="ja-JP" altLang="en-US" dirty="0" smtClean="0"/>
              <a:t>開発環境</a:t>
            </a:r>
            <a:endParaRPr kumimoji="1" lang="ja-JP" altLang="en-US" dirty="0"/>
          </a:p>
        </p:txBody>
      </p:sp>
      <p:sp>
        <p:nvSpPr>
          <p:cNvPr id="3" name="コンテンツ プレースホルダー 2"/>
          <p:cNvSpPr>
            <a:spLocks noGrp="1"/>
          </p:cNvSpPr>
          <p:nvPr>
            <p:ph idx="1"/>
          </p:nvPr>
        </p:nvSpPr>
        <p:spPr>
          <a:xfrm>
            <a:off x="913795" y="1560999"/>
            <a:ext cx="10353762" cy="4747864"/>
          </a:xfrm>
        </p:spPr>
        <p:txBody>
          <a:bodyPr>
            <a:normAutofit lnSpcReduction="10000"/>
          </a:bodyPr>
          <a:lstStyle/>
          <a:p>
            <a:r>
              <a:rPr kumimoji="1" lang="ja-JP" altLang="en-US" sz="2400" u="sng" dirty="0" smtClean="0"/>
              <a:t>ゲームエンジン未使用</a:t>
            </a:r>
            <a:endParaRPr kumimoji="1" lang="en-US" altLang="ja-JP" sz="2400" u="sng" dirty="0" smtClean="0"/>
          </a:p>
          <a:p>
            <a:r>
              <a:rPr kumimoji="1" lang="ja-JP" altLang="en-US" sz="2400" dirty="0" smtClean="0"/>
              <a:t>開発環境</a:t>
            </a:r>
            <a:endParaRPr kumimoji="1" lang="en-US" altLang="ja-JP" sz="2400" dirty="0" smtClean="0"/>
          </a:p>
          <a:p>
            <a:pPr marL="36900" indent="0">
              <a:buNone/>
            </a:pPr>
            <a:r>
              <a:rPr lang="en-US" altLang="ja-JP" dirty="0" smtClean="0"/>
              <a:t>Visual Studio 2022</a:t>
            </a:r>
            <a:endParaRPr lang="en-US" altLang="ja-JP" sz="1800" dirty="0" smtClean="0"/>
          </a:p>
          <a:p>
            <a:r>
              <a:rPr lang="ja-JP" altLang="en-US" sz="1800" dirty="0" smtClean="0"/>
              <a:t>使用した外部ライブラリ</a:t>
            </a:r>
            <a:endParaRPr lang="en-US" altLang="ja-JP" sz="1800" dirty="0" smtClean="0"/>
          </a:p>
          <a:p>
            <a:pPr marL="36900" indent="0">
              <a:buNone/>
            </a:pPr>
            <a:r>
              <a:rPr lang="en-US" altLang="ja-JP" sz="1800" dirty="0" smtClean="0">
                <a:hlinkClick r:id="rId2"/>
              </a:rPr>
              <a:t>DX</a:t>
            </a:r>
            <a:r>
              <a:rPr lang="ja-JP" altLang="en-US" sz="1800" dirty="0" smtClean="0">
                <a:hlinkClick r:id="rId2"/>
              </a:rPr>
              <a:t>ライブラリ</a:t>
            </a:r>
            <a:r>
              <a:rPr lang="ja-JP" altLang="en-US" sz="1800" dirty="0" smtClean="0"/>
              <a:t>（ゲーム開発に使用するため）</a:t>
            </a:r>
            <a:endParaRPr lang="en-US" altLang="ja-JP" sz="1800" dirty="0" smtClean="0"/>
          </a:p>
          <a:p>
            <a:pPr marL="36900" indent="0">
              <a:buNone/>
            </a:pPr>
            <a:r>
              <a:rPr lang="en-US" altLang="ja-JP" sz="1800" dirty="0" smtClean="0">
                <a:hlinkClick r:id="rId3"/>
              </a:rPr>
              <a:t>nlohmann json</a:t>
            </a:r>
            <a:r>
              <a:rPr lang="en-US" altLang="ja-JP" sz="1800" dirty="0" smtClean="0"/>
              <a:t>(json</a:t>
            </a:r>
            <a:r>
              <a:rPr lang="ja-JP" altLang="en-US" sz="1800" dirty="0" smtClean="0"/>
              <a:t>データを扱うため</a:t>
            </a:r>
            <a:r>
              <a:rPr lang="en-US" altLang="ja-JP" sz="1800" dirty="0" smtClean="0"/>
              <a:t>)</a:t>
            </a:r>
            <a:endParaRPr lang="en-US" altLang="ja-JP" sz="1800" dirty="0"/>
          </a:p>
          <a:p>
            <a:pPr marL="36900" indent="0">
              <a:buNone/>
            </a:pPr>
            <a:r>
              <a:rPr lang="en-US" altLang="ja-JP" sz="1800" dirty="0" smtClean="0">
                <a:hlinkClick r:id="rId4"/>
              </a:rPr>
              <a:t>Effekseer</a:t>
            </a:r>
            <a:r>
              <a:rPr lang="en-US" altLang="ja-JP" sz="1800" dirty="0" smtClean="0"/>
              <a:t>(Effekseer</a:t>
            </a:r>
            <a:r>
              <a:rPr lang="ja-JP" altLang="en-US" sz="1800" dirty="0" smtClean="0"/>
              <a:t>のエフェクトを扱うため</a:t>
            </a:r>
            <a:r>
              <a:rPr lang="en-US" altLang="ja-JP" sz="1800" dirty="0" smtClean="0"/>
              <a:t>)</a:t>
            </a:r>
          </a:p>
          <a:p>
            <a:r>
              <a:rPr lang="ja-JP" altLang="en-US" sz="2400" dirty="0"/>
              <a:t>プレイ</a:t>
            </a:r>
            <a:r>
              <a:rPr lang="ja-JP" altLang="en-US" sz="2400" dirty="0" smtClean="0"/>
              <a:t>人数</a:t>
            </a:r>
            <a:endParaRPr lang="en-US" altLang="ja-JP" sz="1800" dirty="0" smtClean="0"/>
          </a:p>
          <a:p>
            <a:pPr marL="36900" indent="0">
              <a:buNone/>
            </a:pPr>
            <a:r>
              <a:rPr lang="ja-JP" altLang="en-US" sz="1800" dirty="0" smtClean="0"/>
              <a:t>１人</a:t>
            </a:r>
            <a:endParaRPr lang="en-US" altLang="ja-JP" sz="1800" dirty="0" smtClean="0"/>
          </a:p>
          <a:p>
            <a:r>
              <a:rPr lang="ja-JP" altLang="en-US" sz="2400" dirty="0" smtClean="0"/>
              <a:t>ジャンル</a:t>
            </a:r>
            <a:endParaRPr lang="en-US" altLang="ja-JP" sz="2400" dirty="0" smtClean="0"/>
          </a:p>
          <a:p>
            <a:pPr marL="36900" indent="0">
              <a:buNone/>
            </a:pPr>
            <a:r>
              <a:rPr lang="en-US" altLang="ja-JP" sz="1800" dirty="0" smtClean="0"/>
              <a:t>3D</a:t>
            </a:r>
            <a:r>
              <a:rPr lang="ja-JP" altLang="en-US" sz="1800" dirty="0" smtClean="0"/>
              <a:t>アクション</a:t>
            </a:r>
            <a:endParaRPr lang="en-US" altLang="ja-JP" sz="2400" dirty="0"/>
          </a:p>
          <a:p>
            <a:pPr marL="36900" indent="0">
              <a:buNone/>
            </a:pPr>
            <a:endParaRPr lang="en-US" altLang="ja-JP" sz="1800" dirty="0"/>
          </a:p>
          <a:p>
            <a:pPr marL="36900" indent="0">
              <a:buNone/>
            </a:pPr>
            <a:endParaRPr lang="en-US" altLang="ja-JP" dirty="0" smtClean="0"/>
          </a:p>
        </p:txBody>
      </p:sp>
      <p:pic>
        <p:nvPicPr>
          <p:cNvPr id="4" name="図 3"/>
          <p:cNvPicPr>
            <a:picLocks noChangeAspect="1"/>
          </p:cNvPicPr>
          <p:nvPr/>
        </p:nvPicPr>
        <p:blipFill rotWithShape="1">
          <a:blip r:embed="rId5" cstate="print">
            <a:extLst>
              <a:ext uri="{28A0092B-C50C-407E-A947-70E740481C1C}">
                <a14:useLocalDpi xmlns:a14="http://schemas.microsoft.com/office/drawing/2010/main" val="0"/>
              </a:ext>
            </a:extLst>
          </a:blip>
          <a:srcRect t="4203" r="6869"/>
          <a:stretch/>
        </p:blipFill>
        <p:spPr>
          <a:xfrm>
            <a:off x="5631584" y="1961321"/>
            <a:ext cx="6044973" cy="3497619"/>
          </a:xfrm>
          <a:prstGeom prst="rect">
            <a:avLst/>
          </a:prstGeom>
        </p:spPr>
      </p:pic>
    </p:spTree>
    <p:extLst>
      <p:ext uri="{BB962C8B-B14F-4D97-AF65-F5344CB8AC3E}">
        <p14:creationId xmlns:p14="http://schemas.microsoft.com/office/powerpoint/2010/main" val="984347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9757" y="278295"/>
            <a:ext cx="8974931" cy="970450"/>
          </a:xfrm>
        </p:spPr>
        <p:txBody>
          <a:bodyPr/>
          <a:lstStyle/>
          <a:p>
            <a:r>
              <a:rPr kumimoji="1" lang="ja-JP" altLang="en-US" dirty="0" smtClean="0"/>
              <a:t>見知らぬ劇場で目覚めた主人公は</a:t>
            </a:r>
            <a:r>
              <a:rPr kumimoji="1" lang="en-US" altLang="ja-JP" dirty="0" smtClean="0"/>
              <a:t>…</a:t>
            </a:r>
            <a:endParaRPr kumimoji="1" lang="ja-JP" altLang="en-US" dirty="0"/>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10048"/>
          <a:stretch/>
        </p:blipFill>
        <p:spPr>
          <a:xfrm>
            <a:off x="200646" y="1523991"/>
            <a:ext cx="3511826" cy="1776908"/>
          </a:xfrm>
          <a:prstGeom prst="rect">
            <a:avLst/>
          </a:prstGeom>
        </p:spPr>
      </p:pic>
      <p:pic>
        <p:nvPicPr>
          <p:cNvPr id="4" name="図 3"/>
          <p:cNvPicPr>
            <a:picLocks noChangeAspect="1"/>
          </p:cNvPicPr>
          <p:nvPr/>
        </p:nvPicPr>
        <p:blipFill rotWithShape="1">
          <a:blip r:embed="rId3" cstate="print">
            <a:extLst>
              <a:ext uri="{28A0092B-C50C-407E-A947-70E740481C1C}">
                <a14:useLocalDpi xmlns:a14="http://schemas.microsoft.com/office/drawing/2010/main" val="0"/>
              </a:ext>
            </a:extLst>
          </a:blip>
          <a:srcRect t="4058" r="6956"/>
          <a:stretch/>
        </p:blipFill>
        <p:spPr>
          <a:xfrm>
            <a:off x="1511291" y="3942315"/>
            <a:ext cx="3220423" cy="1867922"/>
          </a:xfrm>
          <a:prstGeom prst="rect">
            <a:avLst/>
          </a:prstGeom>
        </p:spPr>
      </p:pic>
      <p:pic>
        <p:nvPicPr>
          <p:cNvPr id="5" name="図 4"/>
          <p:cNvPicPr>
            <a:picLocks noChangeAspect="1"/>
          </p:cNvPicPr>
          <p:nvPr/>
        </p:nvPicPr>
        <p:blipFill rotWithShape="1">
          <a:blip r:embed="rId4" cstate="print">
            <a:extLst>
              <a:ext uri="{28A0092B-C50C-407E-A947-70E740481C1C}">
                <a14:useLocalDpi xmlns:a14="http://schemas.microsoft.com/office/drawing/2010/main" val="0"/>
              </a:ext>
            </a:extLst>
          </a:blip>
          <a:srcRect t="9744" r="192"/>
          <a:stretch/>
        </p:blipFill>
        <p:spPr>
          <a:xfrm>
            <a:off x="6129026" y="3886429"/>
            <a:ext cx="3782031" cy="1923808"/>
          </a:xfrm>
          <a:prstGeom prst="rect">
            <a:avLst/>
          </a:prstGeom>
        </p:spPr>
      </p:pic>
      <p:pic>
        <p:nvPicPr>
          <p:cNvPr id="6" name="図 5"/>
          <p:cNvPicPr>
            <a:picLocks noChangeAspect="1"/>
          </p:cNvPicPr>
          <p:nvPr/>
        </p:nvPicPr>
        <p:blipFill rotWithShape="1">
          <a:blip r:embed="rId5" cstate="print">
            <a:extLst>
              <a:ext uri="{28A0092B-C50C-407E-A947-70E740481C1C}">
                <a14:useLocalDpi xmlns:a14="http://schemas.microsoft.com/office/drawing/2010/main" val="0"/>
              </a:ext>
            </a:extLst>
          </a:blip>
          <a:srcRect t="9468"/>
          <a:stretch/>
        </p:blipFill>
        <p:spPr>
          <a:xfrm>
            <a:off x="4209820" y="1523991"/>
            <a:ext cx="3522430" cy="1793759"/>
          </a:xfrm>
          <a:prstGeom prst="rect">
            <a:avLst/>
          </a:prstGeom>
        </p:spPr>
      </p:pic>
      <p:pic>
        <p:nvPicPr>
          <p:cNvPr id="8" name="図 7"/>
          <p:cNvPicPr>
            <a:picLocks noChangeAspect="1"/>
          </p:cNvPicPr>
          <p:nvPr/>
        </p:nvPicPr>
        <p:blipFill rotWithShape="1">
          <a:blip r:embed="rId6" cstate="print">
            <a:extLst>
              <a:ext uri="{28A0092B-C50C-407E-A947-70E740481C1C}">
                <a14:useLocalDpi xmlns:a14="http://schemas.microsoft.com/office/drawing/2010/main" val="0"/>
              </a:ext>
            </a:extLst>
          </a:blip>
          <a:srcRect t="10241"/>
          <a:stretch/>
        </p:blipFill>
        <p:spPr>
          <a:xfrm>
            <a:off x="8229599" y="1523991"/>
            <a:ext cx="3578087" cy="1806545"/>
          </a:xfrm>
          <a:prstGeom prst="rect">
            <a:avLst/>
          </a:prstGeom>
        </p:spPr>
      </p:pic>
      <p:sp>
        <p:nvSpPr>
          <p:cNvPr id="9" name="右矢印 8"/>
          <p:cNvSpPr/>
          <p:nvPr/>
        </p:nvSpPr>
        <p:spPr>
          <a:xfrm rot="3492321">
            <a:off x="1563505" y="3333826"/>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右矢印 9"/>
          <p:cNvSpPr/>
          <p:nvPr/>
        </p:nvSpPr>
        <p:spPr>
          <a:xfrm rot="19572217">
            <a:off x="3879773" y="3311965"/>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右矢印 10"/>
          <p:cNvSpPr/>
          <p:nvPr/>
        </p:nvSpPr>
        <p:spPr>
          <a:xfrm rot="2626458">
            <a:off x="6431873" y="3311965"/>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右矢印 11"/>
          <p:cNvSpPr/>
          <p:nvPr/>
        </p:nvSpPr>
        <p:spPr>
          <a:xfrm rot="19386197">
            <a:off x="8586888" y="3259047"/>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爆発 1 13"/>
          <p:cNvSpPr/>
          <p:nvPr/>
        </p:nvSpPr>
        <p:spPr>
          <a:xfrm>
            <a:off x="9851983" y="1182717"/>
            <a:ext cx="2207173" cy="1219209"/>
          </a:xfrm>
          <a:prstGeom prst="irregularSeal1">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敵出現！</a:t>
            </a:r>
            <a:endParaRPr kumimoji="1" lang="ja-JP" altLang="en-US" dirty="0">
              <a:solidFill>
                <a:schemeClr val="bg1"/>
              </a:solidFill>
            </a:endParaRPr>
          </a:p>
        </p:txBody>
      </p:sp>
      <p:sp>
        <p:nvSpPr>
          <p:cNvPr id="15" name="四角形吹き出し 14"/>
          <p:cNvSpPr/>
          <p:nvPr/>
        </p:nvSpPr>
        <p:spPr>
          <a:xfrm>
            <a:off x="6707439" y="4196617"/>
            <a:ext cx="502658" cy="557221"/>
          </a:xfrm>
          <a:prstGeom prst="wedgeRectCallout">
            <a:avLst>
              <a:gd name="adj1" fmla="val 94169"/>
              <a:gd name="adj2" fmla="val 1345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smtClean="0">
                <a:solidFill>
                  <a:schemeClr val="bg1"/>
                </a:solidFill>
              </a:rPr>
              <a:t>！</a:t>
            </a:r>
            <a:endParaRPr kumimoji="1" lang="ja-JP" altLang="en-US" sz="3600" dirty="0">
              <a:solidFill>
                <a:schemeClr val="bg1"/>
              </a:solidFill>
            </a:endParaRPr>
          </a:p>
        </p:txBody>
      </p:sp>
      <p:sp>
        <p:nvSpPr>
          <p:cNvPr id="16" name="角丸四角形吹き出し 15"/>
          <p:cNvSpPr/>
          <p:nvPr/>
        </p:nvSpPr>
        <p:spPr>
          <a:xfrm>
            <a:off x="9448037" y="4356974"/>
            <a:ext cx="1860332" cy="816645"/>
          </a:xfrm>
          <a:prstGeom prst="wedgeRoundRectCallout">
            <a:avLst>
              <a:gd name="adj1" fmla="val -42867"/>
              <a:gd name="adj2" fmla="val 68935"/>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突然真っ暗に！</a:t>
            </a:r>
            <a:endParaRPr kumimoji="1" lang="ja-JP" altLang="en-US" dirty="0">
              <a:solidFill>
                <a:schemeClr val="bg1"/>
              </a:solidFill>
            </a:endParaRPr>
          </a:p>
        </p:txBody>
      </p:sp>
      <p:sp>
        <p:nvSpPr>
          <p:cNvPr id="17" name="角丸四角形吹き出し 16"/>
          <p:cNvSpPr/>
          <p:nvPr/>
        </p:nvSpPr>
        <p:spPr>
          <a:xfrm>
            <a:off x="495498" y="4241308"/>
            <a:ext cx="1860332" cy="816645"/>
          </a:xfrm>
          <a:prstGeom prst="wedgeRoundRectCallout">
            <a:avLst>
              <a:gd name="adj1" fmla="val 37924"/>
              <a:gd name="adj2" fmla="val 80518"/>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とりあえず探索してみよう</a:t>
            </a:r>
            <a:r>
              <a:rPr kumimoji="1" lang="en-US" altLang="ja-JP" dirty="0" smtClean="0">
                <a:solidFill>
                  <a:schemeClr val="bg1"/>
                </a:solidFill>
              </a:rPr>
              <a:t>…</a:t>
            </a:r>
            <a:endParaRPr kumimoji="1" lang="ja-JP" altLang="en-US" dirty="0">
              <a:solidFill>
                <a:schemeClr val="bg1"/>
              </a:solidFill>
            </a:endParaRPr>
          </a:p>
        </p:txBody>
      </p:sp>
      <p:sp>
        <p:nvSpPr>
          <p:cNvPr id="19" name="角丸四角形吹き出し 18"/>
          <p:cNvSpPr/>
          <p:nvPr/>
        </p:nvSpPr>
        <p:spPr>
          <a:xfrm>
            <a:off x="5464617" y="1380328"/>
            <a:ext cx="2485643" cy="411993"/>
          </a:xfrm>
          <a:prstGeom prst="wedgeRoundRectCallout">
            <a:avLst>
              <a:gd name="adj1" fmla="val -26991"/>
              <a:gd name="adj2" fmla="val 82037"/>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ステージに乗ると</a:t>
            </a:r>
            <a:r>
              <a:rPr kumimoji="1" lang="en-US" altLang="ja-JP" dirty="0" smtClean="0">
                <a:solidFill>
                  <a:schemeClr val="bg1"/>
                </a:solidFill>
              </a:rPr>
              <a:t>…</a:t>
            </a:r>
            <a:r>
              <a:rPr kumimoji="1" lang="ja-JP" altLang="en-US" dirty="0" smtClean="0">
                <a:solidFill>
                  <a:schemeClr val="bg1"/>
                </a:solidFill>
              </a:rPr>
              <a:t>？</a:t>
            </a:r>
            <a:endParaRPr kumimoji="1" lang="ja-JP" altLang="en-US" dirty="0">
              <a:solidFill>
                <a:schemeClr val="bg1"/>
              </a:solidFill>
            </a:endParaRPr>
          </a:p>
        </p:txBody>
      </p:sp>
      <p:sp>
        <p:nvSpPr>
          <p:cNvPr id="20" name="角丸四角形吹き出し 19"/>
          <p:cNvSpPr/>
          <p:nvPr/>
        </p:nvSpPr>
        <p:spPr>
          <a:xfrm>
            <a:off x="2017598" y="1359338"/>
            <a:ext cx="1820609" cy="480141"/>
          </a:xfrm>
          <a:prstGeom prst="wedgeRoundRectCallout">
            <a:avLst>
              <a:gd name="adj1" fmla="val -26991"/>
              <a:gd name="adj2" fmla="val 82037"/>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目覚めた主人公</a:t>
            </a:r>
            <a:endParaRPr kumimoji="1" lang="ja-JP" altLang="en-US" dirty="0">
              <a:solidFill>
                <a:schemeClr val="bg1"/>
              </a:solidFill>
            </a:endParaRPr>
          </a:p>
        </p:txBody>
      </p:sp>
      <p:sp>
        <p:nvSpPr>
          <p:cNvPr id="21" name="タイトル 1"/>
          <p:cNvSpPr txBox="1">
            <a:spLocks/>
          </p:cNvSpPr>
          <p:nvPr/>
        </p:nvSpPr>
        <p:spPr>
          <a:xfrm>
            <a:off x="3742133" y="5850191"/>
            <a:ext cx="8974931"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smtClean="0"/>
              <a:t>自身と同じ姿の敵に遭遇</a:t>
            </a:r>
            <a:r>
              <a:rPr lang="en-US" altLang="ja-JP" dirty="0" smtClean="0"/>
              <a:t>…</a:t>
            </a:r>
            <a:r>
              <a:rPr lang="ja-JP" altLang="en-US" dirty="0" smtClean="0"/>
              <a:t>！</a:t>
            </a:r>
            <a:endParaRPr lang="ja-JP" altLang="en-US" dirty="0"/>
          </a:p>
        </p:txBody>
      </p:sp>
    </p:spTree>
    <p:extLst>
      <p:ext uri="{BB962C8B-B14F-4D97-AF65-F5344CB8AC3E}">
        <p14:creationId xmlns:p14="http://schemas.microsoft.com/office/powerpoint/2010/main" val="123148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3795" y="437322"/>
            <a:ext cx="10353762" cy="970450"/>
          </a:xfrm>
        </p:spPr>
        <p:txBody>
          <a:bodyPr/>
          <a:lstStyle/>
          <a:p>
            <a:r>
              <a:rPr kumimoji="1" lang="ja-JP" altLang="en-US" dirty="0" smtClean="0"/>
              <a:t>敵の攻撃をパリィで弾き返そう！</a:t>
            </a:r>
            <a:endParaRPr kumimoji="1" lang="ja-JP" altLang="en-US" dirty="0"/>
          </a:p>
        </p:txBody>
      </p:sp>
      <p:pic>
        <p:nvPicPr>
          <p:cNvPr id="6" name="コンテンツ プレースホルダー 5"/>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rcRect t="4374" r="6671"/>
          <a:stretch/>
        </p:blipFill>
        <p:spPr>
          <a:xfrm>
            <a:off x="6934015" y="1895961"/>
            <a:ext cx="4777339" cy="2753385"/>
          </a:xfrm>
        </p:spPr>
      </p:pic>
      <p:pic>
        <p:nvPicPr>
          <p:cNvPr id="5" name="図 4"/>
          <p:cNvPicPr>
            <a:picLocks noChangeAspect="1"/>
          </p:cNvPicPr>
          <p:nvPr/>
        </p:nvPicPr>
        <p:blipFill rotWithShape="1">
          <a:blip r:embed="rId3" cstate="print">
            <a:extLst>
              <a:ext uri="{28A0092B-C50C-407E-A947-70E740481C1C}">
                <a14:useLocalDpi xmlns:a14="http://schemas.microsoft.com/office/drawing/2010/main" val="0"/>
              </a:ext>
            </a:extLst>
          </a:blip>
          <a:srcRect t="4203" r="6869"/>
          <a:stretch/>
        </p:blipFill>
        <p:spPr>
          <a:xfrm>
            <a:off x="377431" y="1895961"/>
            <a:ext cx="4758705" cy="2753385"/>
          </a:xfrm>
          <a:prstGeom prst="rect">
            <a:avLst/>
          </a:prstGeom>
        </p:spPr>
      </p:pic>
      <p:sp>
        <p:nvSpPr>
          <p:cNvPr id="7" name="右矢印 6"/>
          <p:cNvSpPr/>
          <p:nvPr/>
        </p:nvSpPr>
        <p:spPr>
          <a:xfrm>
            <a:off x="5212994" y="2331876"/>
            <a:ext cx="1644162" cy="1881554"/>
          </a:xfrm>
          <a:prstGeom prst="rightArrow">
            <a:avLst/>
          </a:prstGeom>
          <a:solidFill>
            <a:srgbClr val="007DD2"/>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smtClean="0"/>
              <a:t>パリィ</a:t>
            </a:r>
            <a:r>
              <a:rPr kumimoji="1" lang="en-US" altLang="ja-JP" sz="2400" dirty="0" smtClean="0"/>
              <a:t>!</a:t>
            </a:r>
            <a:endParaRPr kumimoji="1" lang="ja-JP" altLang="en-US" sz="2400" dirty="0"/>
          </a:p>
        </p:txBody>
      </p:sp>
      <p:sp>
        <p:nvSpPr>
          <p:cNvPr id="8" name="円形吹き出し 7"/>
          <p:cNvSpPr/>
          <p:nvPr/>
        </p:nvSpPr>
        <p:spPr>
          <a:xfrm>
            <a:off x="913795" y="2333790"/>
            <a:ext cx="1635975" cy="710262"/>
          </a:xfrm>
          <a:prstGeom prst="wedgeEllipseCallout">
            <a:avLst>
              <a:gd name="adj1" fmla="val 35523"/>
              <a:gd name="adj2" fmla="val 71224"/>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攻撃だ！</a:t>
            </a:r>
            <a:endParaRPr kumimoji="1" lang="ja-JP" altLang="en-US" dirty="0">
              <a:solidFill>
                <a:schemeClr val="bg1"/>
              </a:solidFill>
            </a:endParaRPr>
          </a:p>
        </p:txBody>
      </p:sp>
      <p:sp>
        <p:nvSpPr>
          <p:cNvPr id="9" name="円形吹き出し 8"/>
          <p:cNvSpPr/>
          <p:nvPr/>
        </p:nvSpPr>
        <p:spPr>
          <a:xfrm>
            <a:off x="7563709" y="1627229"/>
            <a:ext cx="2538652" cy="710262"/>
          </a:xfrm>
          <a:prstGeom prst="wedgeEllipseCallout">
            <a:avLst>
              <a:gd name="adj1" fmla="val 38640"/>
              <a:gd name="adj2" fmla="val 73700"/>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敵にダメージ！</a:t>
            </a:r>
            <a:endParaRPr kumimoji="1" lang="ja-JP" altLang="en-US" dirty="0">
              <a:solidFill>
                <a:schemeClr val="bg1"/>
              </a:solidFill>
            </a:endParaRPr>
          </a:p>
        </p:txBody>
      </p:sp>
      <p:sp>
        <p:nvSpPr>
          <p:cNvPr id="10" name="タイトル 1"/>
          <p:cNvSpPr txBox="1">
            <a:spLocks/>
          </p:cNvSpPr>
          <p:nvPr/>
        </p:nvSpPr>
        <p:spPr>
          <a:xfrm>
            <a:off x="1132306" y="5134737"/>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smtClean="0"/>
              <a:t>攻撃を弾き返し、敵を倒そう！</a:t>
            </a:r>
            <a:endParaRPr lang="ja-JP" altLang="en-US" dirty="0"/>
          </a:p>
        </p:txBody>
      </p:sp>
    </p:spTree>
    <p:extLst>
      <p:ext uri="{BB962C8B-B14F-4D97-AF65-F5344CB8AC3E}">
        <p14:creationId xmlns:p14="http://schemas.microsoft.com/office/powerpoint/2010/main" val="285688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txBox="1">
            <a:spLocks/>
          </p:cNvSpPr>
          <p:nvPr/>
        </p:nvSpPr>
        <p:spPr>
          <a:xfrm>
            <a:off x="1132306" y="430215"/>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fontScale="85000" lnSpcReduction="10000"/>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smtClean="0"/>
              <a:t>パリィに成功すると大ダメージを与えるチャンス到来！</a:t>
            </a:r>
            <a:endParaRPr lang="ja-JP" altLang="en-US" dirty="0"/>
          </a:p>
        </p:txBody>
      </p:sp>
      <p:pic>
        <p:nvPicPr>
          <p:cNvPr id="6" name="図 5"/>
          <p:cNvPicPr>
            <a:picLocks noChangeAspect="1"/>
          </p:cNvPicPr>
          <p:nvPr/>
        </p:nvPicPr>
        <p:blipFill rotWithShape="1">
          <a:blip r:embed="rId2" cstate="print">
            <a:extLst>
              <a:ext uri="{28A0092B-C50C-407E-A947-70E740481C1C}">
                <a14:useLocalDpi xmlns:a14="http://schemas.microsoft.com/office/drawing/2010/main" val="0"/>
              </a:ext>
            </a:extLst>
          </a:blip>
          <a:srcRect t="4251" r="6195"/>
          <a:stretch/>
        </p:blipFill>
        <p:spPr>
          <a:xfrm>
            <a:off x="181857" y="1907930"/>
            <a:ext cx="4766886" cy="2736955"/>
          </a:xfrm>
          <a:prstGeom prst="rect">
            <a:avLst/>
          </a:prstGeom>
        </p:spPr>
      </p:pic>
      <p:pic>
        <p:nvPicPr>
          <p:cNvPr id="7" name="図 6"/>
          <p:cNvPicPr>
            <a:picLocks noChangeAspect="1"/>
          </p:cNvPicPr>
          <p:nvPr/>
        </p:nvPicPr>
        <p:blipFill rotWithShape="1">
          <a:blip r:embed="rId3" cstate="print">
            <a:extLst>
              <a:ext uri="{28A0092B-C50C-407E-A947-70E740481C1C}">
                <a14:useLocalDpi xmlns:a14="http://schemas.microsoft.com/office/drawing/2010/main" val="0"/>
              </a:ext>
            </a:extLst>
          </a:blip>
          <a:srcRect t="4058" r="6304"/>
          <a:stretch/>
        </p:blipFill>
        <p:spPr>
          <a:xfrm>
            <a:off x="7195929" y="1907931"/>
            <a:ext cx="4832255" cy="2848956"/>
          </a:xfrm>
          <a:prstGeom prst="rect">
            <a:avLst/>
          </a:prstGeom>
        </p:spPr>
      </p:pic>
      <p:sp>
        <p:nvSpPr>
          <p:cNvPr id="8" name="右矢印 7"/>
          <p:cNvSpPr/>
          <p:nvPr/>
        </p:nvSpPr>
        <p:spPr>
          <a:xfrm>
            <a:off x="4948743" y="1907931"/>
            <a:ext cx="2247186" cy="2736955"/>
          </a:xfrm>
          <a:prstGeom prst="rightArrow">
            <a:avLst/>
          </a:prstGeom>
          <a:solidFill>
            <a:srgbClr val="007DD2"/>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smtClean="0"/>
              <a:t>背中から致命攻撃！</a:t>
            </a:r>
            <a:endParaRPr kumimoji="1" lang="ja-JP" altLang="en-US" sz="2400" dirty="0"/>
          </a:p>
        </p:txBody>
      </p:sp>
      <p:sp>
        <p:nvSpPr>
          <p:cNvPr id="9" name="円形吹き出し 8"/>
          <p:cNvSpPr/>
          <p:nvPr/>
        </p:nvSpPr>
        <p:spPr>
          <a:xfrm>
            <a:off x="500555" y="2186388"/>
            <a:ext cx="1829405" cy="710262"/>
          </a:xfrm>
          <a:prstGeom prst="wedgeEllipseCallout">
            <a:avLst>
              <a:gd name="adj1" fmla="val 35523"/>
              <a:gd name="adj2" fmla="val 71224"/>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ダウン中</a:t>
            </a:r>
            <a:r>
              <a:rPr kumimoji="1" lang="en-US" altLang="ja-JP" dirty="0" smtClean="0">
                <a:solidFill>
                  <a:schemeClr val="bg1"/>
                </a:solidFill>
              </a:rPr>
              <a:t>…</a:t>
            </a:r>
            <a:endParaRPr kumimoji="1" lang="ja-JP" altLang="en-US" dirty="0">
              <a:solidFill>
                <a:schemeClr val="bg1"/>
              </a:solidFill>
            </a:endParaRPr>
          </a:p>
        </p:txBody>
      </p:sp>
      <p:sp>
        <p:nvSpPr>
          <p:cNvPr id="11" name="爆発 2 10"/>
          <p:cNvSpPr/>
          <p:nvPr/>
        </p:nvSpPr>
        <p:spPr>
          <a:xfrm>
            <a:off x="7394331" y="1907931"/>
            <a:ext cx="3481754" cy="1590134"/>
          </a:xfrm>
          <a:prstGeom prst="irregularSeal2">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ln>
                  <a:solidFill>
                    <a:schemeClr val="bg1"/>
                  </a:solidFill>
                </a:ln>
                <a:solidFill>
                  <a:schemeClr val="bg1"/>
                </a:solidFill>
              </a:rPr>
              <a:t>大ダメージ！</a:t>
            </a:r>
            <a:endParaRPr kumimoji="1" lang="ja-JP" altLang="en-US" dirty="0">
              <a:ln>
                <a:solidFill>
                  <a:schemeClr val="bg1"/>
                </a:solidFill>
              </a:ln>
              <a:solidFill>
                <a:schemeClr val="bg1"/>
              </a:solidFill>
            </a:endParaRPr>
          </a:p>
        </p:txBody>
      </p:sp>
      <p:sp>
        <p:nvSpPr>
          <p:cNvPr id="13" name="タイトル 1"/>
          <p:cNvSpPr txBox="1">
            <a:spLocks/>
          </p:cNvSpPr>
          <p:nvPr/>
        </p:nvSpPr>
        <p:spPr>
          <a:xfrm>
            <a:off x="1132306" y="554261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smtClean="0"/>
              <a:t>うまく利用して敵を撃破しよう！</a:t>
            </a:r>
            <a:endParaRPr lang="ja-JP" altLang="en-US" dirty="0"/>
          </a:p>
        </p:txBody>
      </p:sp>
    </p:spTree>
    <p:extLst>
      <p:ext uri="{BB962C8B-B14F-4D97-AF65-F5344CB8AC3E}">
        <p14:creationId xmlns:p14="http://schemas.microsoft.com/office/powerpoint/2010/main" val="25542639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half" idx="2"/>
          </p:nvPr>
        </p:nvSpPr>
        <p:spPr>
          <a:xfrm>
            <a:off x="7712894" y="1100591"/>
            <a:ext cx="3878561" cy="1278141"/>
          </a:xfrm>
        </p:spPr>
        <p:txBody>
          <a:bodyPr>
            <a:normAutofit/>
          </a:bodyPr>
          <a:lstStyle/>
          <a:p>
            <a:r>
              <a:rPr kumimoji="1" lang="ja-JP" altLang="en-US" sz="2800" b="1" dirty="0" smtClean="0">
                <a:solidFill>
                  <a:srgbClr val="007DD2"/>
                </a:solidFill>
              </a:rPr>
              <a:t>パリィゲージ</a:t>
            </a:r>
            <a:endParaRPr kumimoji="1" lang="en-US" altLang="ja-JP" sz="2800" b="1" dirty="0" smtClean="0">
              <a:solidFill>
                <a:srgbClr val="007DD2"/>
              </a:solidFill>
            </a:endParaRPr>
          </a:p>
          <a:p>
            <a:r>
              <a:rPr kumimoji="1" lang="ja-JP" altLang="en-US" sz="2000" dirty="0" smtClean="0"/>
              <a:t>パリィはクールダウンがあるので慎重に使おう！</a:t>
            </a:r>
            <a:endParaRPr kumimoji="1" lang="ja-JP" altLang="en-US" sz="2000" dirty="0"/>
          </a:p>
        </p:txBody>
      </p:sp>
      <p:pic>
        <p:nvPicPr>
          <p:cNvPr id="5" name="コンテンツ プレースホルダー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4203" r="6869"/>
          <a:stretch/>
        </p:blipFill>
        <p:spPr>
          <a:xfrm>
            <a:off x="390181" y="1047252"/>
            <a:ext cx="6411912" cy="3709947"/>
          </a:xfrm>
          <a:prstGeom prst="rect">
            <a:avLst/>
          </a:prstGeom>
        </p:spPr>
      </p:pic>
      <p:sp>
        <p:nvSpPr>
          <p:cNvPr id="6" name="タイトル 1"/>
          <p:cNvSpPr txBox="1">
            <a:spLocks/>
          </p:cNvSpPr>
          <p:nvPr/>
        </p:nvSpPr>
        <p:spPr>
          <a:xfrm>
            <a:off x="2802076" y="0"/>
            <a:ext cx="6411912" cy="875304"/>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kumimoji="1"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smtClean="0"/>
              <a:t>プレイ画面とゲームルール</a:t>
            </a:r>
            <a:endParaRPr lang="ja-JP" altLang="en-US" sz="3600" dirty="0"/>
          </a:p>
        </p:txBody>
      </p:sp>
      <p:sp>
        <p:nvSpPr>
          <p:cNvPr id="7" name="タイトル 1"/>
          <p:cNvSpPr txBox="1">
            <a:spLocks/>
          </p:cNvSpPr>
          <p:nvPr/>
        </p:nvSpPr>
        <p:spPr>
          <a:xfrm>
            <a:off x="390181" y="4757199"/>
            <a:ext cx="11536776" cy="1755861"/>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smtClean="0"/>
              <a:t>プレイヤーの</a:t>
            </a:r>
            <a:r>
              <a:rPr lang="en-US" altLang="ja-JP" sz="3600" dirty="0" smtClean="0"/>
              <a:t>HP</a:t>
            </a:r>
            <a:r>
              <a:rPr lang="ja-JP" altLang="en-US" sz="3600" dirty="0" smtClean="0"/>
              <a:t>が０になるとゲームオーバー</a:t>
            </a:r>
            <a:endParaRPr lang="en-US" altLang="ja-JP" sz="3600" dirty="0" smtClean="0"/>
          </a:p>
          <a:p>
            <a:r>
              <a:rPr lang="ja-JP" altLang="en-US" sz="3600" dirty="0" smtClean="0"/>
              <a:t>敵の</a:t>
            </a:r>
            <a:r>
              <a:rPr lang="en-US" altLang="ja-JP" sz="3600" dirty="0" smtClean="0"/>
              <a:t>HP</a:t>
            </a:r>
            <a:r>
              <a:rPr lang="ja-JP" altLang="en-US" sz="3600" dirty="0" smtClean="0"/>
              <a:t>を０にするとゲームクリア！</a:t>
            </a:r>
            <a:endParaRPr lang="ja-JP" altLang="en-US" sz="3600" dirty="0"/>
          </a:p>
        </p:txBody>
      </p:sp>
      <p:sp>
        <p:nvSpPr>
          <p:cNvPr id="8" name="四角形吹き出し 7"/>
          <p:cNvSpPr/>
          <p:nvPr/>
        </p:nvSpPr>
        <p:spPr>
          <a:xfrm>
            <a:off x="496707" y="1364246"/>
            <a:ext cx="1393639" cy="561269"/>
          </a:xfrm>
          <a:prstGeom prst="wedgeRectCallout">
            <a:avLst>
              <a:gd name="adj1" fmla="val -23178"/>
              <a:gd name="adj2" fmla="val -65970"/>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パリィゲージ</a:t>
            </a:r>
            <a:endParaRPr kumimoji="1" lang="ja-JP" altLang="en-US" dirty="0">
              <a:solidFill>
                <a:schemeClr val="bg1"/>
              </a:solidFill>
            </a:endParaRPr>
          </a:p>
        </p:txBody>
      </p:sp>
      <p:sp>
        <p:nvSpPr>
          <p:cNvPr id="9" name="四角形吹き出し 8"/>
          <p:cNvSpPr/>
          <p:nvPr/>
        </p:nvSpPr>
        <p:spPr>
          <a:xfrm>
            <a:off x="2477203" y="1083611"/>
            <a:ext cx="1716024" cy="561269"/>
          </a:xfrm>
          <a:prstGeom prst="wedgeRectCallout">
            <a:avLst>
              <a:gd name="adj1" fmla="val -65074"/>
              <a:gd name="adj2" fmla="val -42471"/>
            </a:avLst>
          </a:prstGeom>
          <a:solidFill>
            <a:schemeClr val="tx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プレイヤーの</a:t>
            </a:r>
            <a:r>
              <a:rPr kumimoji="1" lang="en-US" altLang="ja-JP" dirty="0" smtClean="0">
                <a:solidFill>
                  <a:schemeClr val="bg1"/>
                </a:solidFill>
              </a:rPr>
              <a:t>HP</a:t>
            </a:r>
            <a:endParaRPr kumimoji="1" lang="ja-JP" altLang="en-US" dirty="0">
              <a:solidFill>
                <a:schemeClr val="bg1"/>
              </a:solidFill>
            </a:endParaRPr>
          </a:p>
        </p:txBody>
      </p:sp>
      <p:sp>
        <p:nvSpPr>
          <p:cNvPr id="10" name="四角形吹き出し 9"/>
          <p:cNvSpPr/>
          <p:nvPr/>
        </p:nvSpPr>
        <p:spPr>
          <a:xfrm>
            <a:off x="5086069" y="4195930"/>
            <a:ext cx="1716024" cy="561269"/>
          </a:xfrm>
          <a:prstGeom prst="wedgeRectCallout">
            <a:avLst>
              <a:gd name="adj1" fmla="val -66611"/>
              <a:gd name="adj2" fmla="val 201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敵の</a:t>
            </a:r>
            <a:r>
              <a:rPr kumimoji="1" lang="en-US" altLang="ja-JP" dirty="0" smtClean="0">
                <a:solidFill>
                  <a:schemeClr val="bg1"/>
                </a:solidFill>
              </a:rPr>
              <a:t>HP</a:t>
            </a:r>
            <a:endParaRPr kumimoji="1" lang="ja-JP" altLang="en-US" dirty="0">
              <a:solidFill>
                <a:schemeClr val="bg1"/>
              </a:solidFill>
            </a:endParaRPr>
          </a:p>
        </p:txBody>
      </p:sp>
      <p:sp>
        <p:nvSpPr>
          <p:cNvPr id="12" name="テキスト プレースホルダー 3"/>
          <p:cNvSpPr txBox="1">
            <a:spLocks/>
          </p:cNvSpPr>
          <p:nvPr/>
        </p:nvSpPr>
        <p:spPr>
          <a:xfrm>
            <a:off x="7777371" y="3067917"/>
            <a:ext cx="3878561" cy="1278141"/>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10000"/>
          </a:bodyPr>
          <a:lstStyle>
            <a:lvl1pPr marL="0" indent="0" algn="ctr" defTabSz="457200" rtl="0" eaLnBrk="1" latinLnBrk="0" hangingPunct="1">
              <a:spcBef>
                <a:spcPct val="20000"/>
              </a:spcBef>
              <a:spcAft>
                <a:spcPts val="600"/>
              </a:spcAft>
              <a:buClr>
                <a:schemeClr val="tx2"/>
              </a:buClr>
              <a:buSzPct val="70000"/>
              <a:buFont typeface="Wingdings 2" charset="2"/>
              <a:buNone/>
              <a:defRPr kumimoji="1"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tx2"/>
              </a:buClr>
              <a:buSzPct val="70000"/>
              <a:buFont typeface="Wingdings 2" charset="2"/>
              <a:buNone/>
              <a:defRPr kumimoji="1"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tx2"/>
              </a:buClr>
              <a:buSzPct val="70000"/>
              <a:buFont typeface="Wingdings 2" charset="2"/>
              <a:buNone/>
              <a:defRPr kumimoji="1" sz="1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7432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2004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6576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ja-JP" altLang="en-US" sz="2000" dirty="0" smtClean="0"/>
              <a:t>パリィの他にも回避やジャンプができるので上手く使って敵を倒そう！</a:t>
            </a:r>
            <a:endParaRPr lang="en-US" altLang="ja-JP" sz="2000" dirty="0" smtClean="0"/>
          </a:p>
          <a:p>
            <a:r>
              <a:rPr lang="ja-JP" altLang="en-US" sz="2000" dirty="0" smtClean="0"/>
              <a:t>敵の</a:t>
            </a:r>
            <a:r>
              <a:rPr lang="en-US" altLang="ja-JP" sz="2000" dirty="0" smtClean="0"/>
              <a:t>HP</a:t>
            </a:r>
            <a:r>
              <a:rPr lang="ja-JP" altLang="en-US" sz="2000" dirty="0" smtClean="0"/>
              <a:t>が半分以下になると強力な攻撃をしかけてくるぞ！</a:t>
            </a:r>
            <a:endParaRPr lang="en-US" altLang="ja-JP" sz="2000" dirty="0"/>
          </a:p>
        </p:txBody>
      </p:sp>
    </p:spTree>
    <p:extLst>
      <p:ext uri="{BB962C8B-B14F-4D97-AF65-F5344CB8AC3E}">
        <p14:creationId xmlns:p14="http://schemas.microsoft.com/office/powerpoint/2010/main" val="2437358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txBox="1">
            <a:spLocks/>
          </p:cNvSpPr>
          <p:nvPr/>
        </p:nvSpPr>
        <p:spPr>
          <a:xfrm>
            <a:off x="2802076" y="0"/>
            <a:ext cx="6411912" cy="875304"/>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kumimoji="1"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smtClean="0"/>
              <a:t>操作方法</a:t>
            </a:r>
            <a:endParaRPr lang="ja-JP" altLang="en-US" sz="3600" dirty="0"/>
          </a:p>
        </p:txBody>
      </p:sp>
      <p:sp>
        <p:nvSpPr>
          <p:cNvPr id="6" name="正方形/長方形 5"/>
          <p:cNvSpPr/>
          <p:nvPr/>
        </p:nvSpPr>
        <p:spPr>
          <a:xfrm>
            <a:off x="329184" y="875304"/>
            <a:ext cx="5193792" cy="5718048"/>
          </a:xfrm>
          <a:prstGeom prst="rect">
            <a:avLst/>
          </a:prstGeom>
          <a:noFill/>
          <a:ln w="38100">
            <a:solidFill>
              <a:srgbClr val="00B0F0"/>
            </a:solidFill>
          </a:ln>
        </p:spPr>
        <p:style>
          <a:lnRef idx="2">
            <a:schemeClr val="accent6"/>
          </a:lnRef>
          <a:fillRef idx="1">
            <a:schemeClr val="lt1"/>
          </a:fillRef>
          <a:effectRef idx="0">
            <a:schemeClr val="accent6"/>
          </a:effectRef>
          <a:fontRef idx="minor">
            <a:schemeClr val="dk1"/>
          </a:fontRef>
        </p:style>
        <p:txBody>
          <a:bodyPr rtlCol="0" anchor="t"/>
          <a:lstStyle/>
          <a:p>
            <a:pPr algn="ctr"/>
            <a:r>
              <a:rPr kumimoji="1" lang="ja-JP" altLang="en-US" sz="4000" dirty="0" smtClean="0">
                <a:solidFill>
                  <a:schemeClr val="tx1"/>
                </a:solidFill>
              </a:rPr>
              <a:t>キーボード</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smtClean="0">
                <a:solidFill>
                  <a:schemeClr val="tx1"/>
                </a:solidFill>
              </a:rPr>
              <a:t>パリィ：</a:t>
            </a:r>
            <a:r>
              <a:rPr kumimoji="1" lang="en-US" altLang="ja-JP" sz="2400" dirty="0" smtClean="0">
                <a:solidFill>
                  <a:schemeClr val="tx1"/>
                </a:solidFill>
              </a:rPr>
              <a:t>Space</a:t>
            </a:r>
            <a:r>
              <a:rPr kumimoji="1" lang="ja-JP" altLang="en-US" sz="2400" dirty="0" smtClean="0">
                <a:solidFill>
                  <a:schemeClr val="tx1"/>
                </a:solidFill>
              </a:rPr>
              <a:t>キー</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致命</a:t>
            </a:r>
            <a:r>
              <a:rPr kumimoji="1" lang="ja-JP" altLang="en-US" sz="2400" dirty="0" smtClean="0">
                <a:solidFill>
                  <a:schemeClr val="tx1"/>
                </a:solidFill>
              </a:rPr>
              <a:t>攻撃：</a:t>
            </a:r>
            <a:r>
              <a:rPr kumimoji="1" lang="en-US" altLang="ja-JP" sz="2400" dirty="0" smtClean="0">
                <a:solidFill>
                  <a:schemeClr val="tx1"/>
                </a:solidFill>
              </a:rPr>
              <a:t>Space</a:t>
            </a:r>
            <a:r>
              <a:rPr kumimoji="1" lang="ja-JP" altLang="en-US" sz="2400" dirty="0" smtClean="0">
                <a:solidFill>
                  <a:schemeClr val="tx1"/>
                </a:solidFill>
              </a:rPr>
              <a:t>キー</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smtClean="0">
                <a:solidFill>
                  <a:schemeClr val="tx1"/>
                </a:solidFill>
              </a:rPr>
              <a:t>回避：左</a:t>
            </a:r>
            <a:r>
              <a:rPr kumimoji="1" lang="en-US" altLang="ja-JP" sz="2400" dirty="0" smtClean="0">
                <a:solidFill>
                  <a:schemeClr val="tx1"/>
                </a:solidFill>
              </a:rPr>
              <a:t>Shift</a:t>
            </a:r>
            <a:r>
              <a:rPr kumimoji="1" lang="ja-JP" altLang="en-US" sz="2400" dirty="0" smtClean="0">
                <a:solidFill>
                  <a:schemeClr val="tx1"/>
                </a:solidFill>
              </a:rPr>
              <a:t>キー</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smtClean="0">
                <a:solidFill>
                  <a:schemeClr val="tx1"/>
                </a:solidFill>
              </a:rPr>
              <a:t>移動：</a:t>
            </a:r>
            <a:r>
              <a:rPr kumimoji="1" lang="en-US" altLang="ja-JP" sz="2400" dirty="0" smtClean="0">
                <a:solidFill>
                  <a:schemeClr val="tx1"/>
                </a:solidFill>
              </a:rPr>
              <a:t>W,A,S,D</a:t>
            </a:r>
            <a:r>
              <a:rPr kumimoji="1" lang="ja-JP" altLang="en-US" sz="2400" dirty="0" smtClean="0">
                <a:solidFill>
                  <a:schemeClr val="tx1"/>
                </a:solidFill>
              </a:rPr>
              <a:t>キー</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smtClean="0">
                <a:solidFill>
                  <a:schemeClr val="tx1"/>
                </a:solidFill>
              </a:rPr>
              <a:t>ジャンプ：</a:t>
            </a:r>
            <a:r>
              <a:rPr kumimoji="1" lang="en-US" altLang="ja-JP" sz="2400" dirty="0" smtClean="0">
                <a:solidFill>
                  <a:schemeClr val="tx1"/>
                </a:solidFill>
              </a:rPr>
              <a:t>E</a:t>
            </a:r>
            <a:r>
              <a:rPr kumimoji="1" lang="ja-JP" altLang="en-US" sz="2400" dirty="0" smtClean="0">
                <a:solidFill>
                  <a:schemeClr val="tx1"/>
                </a:solidFill>
              </a:rPr>
              <a:t>キー</a:t>
            </a:r>
            <a:endParaRPr kumimoji="1" lang="en-US" altLang="ja-JP" sz="2400" dirty="0" smtClean="0">
              <a:solidFill>
                <a:schemeClr val="tx1"/>
              </a:solidFill>
            </a:endParaRPr>
          </a:p>
          <a:p>
            <a:pPr marL="342900" indent="-342900">
              <a:lnSpc>
                <a:spcPct val="150000"/>
              </a:lnSpc>
              <a:buFont typeface="Wingdings" panose="05000000000000000000" pitchFamily="2" charset="2"/>
              <a:buChar char="u"/>
            </a:pPr>
            <a:r>
              <a:rPr kumimoji="1" lang="ja-JP" altLang="en-US" sz="2400" dirty="0" smtClean="0">
                <a:solidFill>
                  <a:schemeClr val="tx1"/>
                </a:solidFill>
              </a:rPr>
              <a:t>カメラ操作：↑</a:t>
            </a:r>
            <a:r>
              <a:rPr kumimoji="1" lang="en-US" altLang="ja-JP" sz="2400" dirty="0" smtClean="0">
                <a:solidFill>
                  <a:schemeClr val="tx1"/>
                </a:solidFill>
              </a:rPr>
              <a:t>,</a:t>
            </a:r>
            <a:r>
              <a:rPr kumimoji="1" lang="ja-JP" altLang="en-US" sz="2400" dirty="0" smtClean="0">
                <a:solidFill>
                  <a:schemeClr val="tx1"/>
                </a:solidFill>
              </a:rPr>
              <a:t>←</a:t>
            </a:r>
            <a:r>
              <a:rPr kumimoji="1" lang="en-US" altLang="ja-JP" sz="2400" dirty="0" smtClean="0">
                <a:solidFill>
                  <a:schemeClr val="tx1"/>
                </a:solidFill>
              </a:rPr>
              <a:t>,</a:t>
            </a:r>
            <a:r>
              <a:rPr kumimoji="1" lang="ja-JP" altLang="en-US" sz="2400" dirty="0" smtClean="0">
                <a:solidFill>
                  <a:schemeClr val="tx1"/>
                </a:solidFill>
              </a:rPr>
              <a:t>↓</a:t>
            </a:r>
            <a:r>
              <a:rPr kumimoji="1" lang="en-US" altLang="ja-JP" sz="2400" dirty="0" smtClean="0">
                <a:solidFill>
                  <a:schemeClr val="tx1"/>
                </a:solidFill>
              </a:rPr>
              <a:t>,</a:t>
            </a:r>
            <a:r>
              <a:rPr kumimoji="1" lang="ja-JP" altLang="en-US" sz="2400" dirty="0" smtClean="0">
                <a:solidFill>
                  <a:schemeClr val="tx1"/>
                </a:solidFill>
              </a:rPr>
              <a:t>→キー</a:t>
            </a:r>
            <a:endParaRPr kumimoji="1" lang="en-US" altLang="ja-JP" sz="2400" dirty="0" smtClean="0">
              <a:solidFill>
                <a:schemeClr val="tx1"/>
              </a:solidFill>
            </a:endParaRPr>
          </a:p>
          <a:p>
            <a:pPr algn="ctr"/>
            <a:endParaRPr kumimoji="1" lang="ja-JP" altLang="en-US" sz="2400" dirty="0">
              <a:solidFill>
                <a:schemeClr val="tx1"/>
              </a:solidFill>
            </a:endParaRPr>
          </a:p>
        </p:txBody>
      </p:sp>
      <p:sp>
        <p:nvSpPr>
          <p:cNvPr id="8" name="正方形/長方形 7"/>
          <p:cNvSpPr/>
          <p:nvPr/>
        </p:nvSpPr>
        <p:spPr>
          <a:xfrm>
            <a:off x="6493088" y="875304"/>
            <a:ext cx="5193792" cy="5718048"/>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pPr algn="ctr"/>
            <a:r>
              <a:rPr kumimoji="1" lang="ja-JP" altLang="en-US" sz="4000" dirty="0" smtClean="0">
                <a:solidFill>
                  <a:schemeClr val="tx1"/>
                </a:solidFill>
              </a:rPr>
              <a:t>コントローラー</a:t>
            </a:r>
            <a:endParaRPr kumimoji="1" lang="en-US" altLang="ja-JP" sz="4000" dirty="0" smtClean="0">
              <a:solidFill>
                <a:schemeClr val="tx1"/>
              </a:solidFill>
            </a:endParaRPr>
          </a:p>
        </p:txBody>
      </p:sp>
      <p:grpSp>
        <p:nvGrpSpPr>
          <p:cNvPr id="51" name="グループ化 50"/>
          <p:cNvGrpSpPr/>
          <p:nvPr/>
        </p:nvGrpSpPr>
        <p:grpSpPr>
          <a:xfrm>
            <a:off x="6493089" y="2186941"/>
            <a:ext cx="5092512" cy="3091180"/>
            <a:chOff x="7018333" y="2609797"/>
            <a:chExt cx="4567267" cy="2668323"/>
          </a:xfrm>
        </p:grpSpPr>
        <p:pic>
          <p:nvPicPr>
            <p:cNvPr id="7" name="図 6">
              <a:extLst>
                <a:ext uri="{FF2B5EF4-FFF2-40B4-BE49-F238E27FC236}">
                  <a16:creationId xmlns:a16="http://schemas.microsoft.com/office/drawing/2014/main" id="{19FA3085-92C0-43F3-A639-97A0205FD2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8333" y="2779934"/>
              <a:ext cx="4391309" cy="2498186"/>
            </a:xfrm>
            <a:prstGeom prst="rect">
              <a:avLst/>
            </a:prstGeom>
          </p:spPr>
        </p:pic>
        <p:sp>
          <p:nvSpPr>
            <p:cNvPr id="9" name="楕円 8"/>
            <p:cNvSpPr/>
            <p:nvPr/>
          </p:nvSpPr>
          <p:spPr>
            <a:xfrm>
              <a:off x="10357949" y="3386614"/>
              <a:ext cx="321957" cy="3063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0" name="楕円 9"/>
            <p:cNvSpPr/>
            <p:nvPr/>
          </p:nvSpPr>
          <p:spPr>
            <a:xfrm>
              <a:off x="10113963" y="3143726"/>
              <a:ext cx="294262" cy="304800"/>
            </a:xfrm>
            <a:prstGeom prst="ellipse">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1" name="楕円 10"/>
            <p:cNvSpPr/>
            <p:nvPr/>
          </p:nvSpPr>
          <p:spPr>
            <a:xfrm>
              <a:off x="9836725" y="3386614"/>
              <a:ext cx="294262" cy="304800"/>
            </a:xfrm>
            <a:prstGeom prst="ellipse">
              <a:avLst/>
            </a:prstGeom>
            <a:noFill/>
            <a:ln w="28575">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2" name="楕円 11"/>
            <p:cNvSpPr/>
            <p:nvPr/>
          </p:nvSpPr>
          <p:spPr>
            <a:xfrm>
              <a:off x="10113963" y="3630030"/>
              <a:ext cx="294262" cy="304800"/>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3" name="楕円 12"/>
            <p:cNvSpPr/>
            <p:nvPr/>
          </p:nvSpPr>
          <p:spPr>
            <a:xfrm>
              <a:off x="8002586" y="3258025"/>
              <a:ext cx="563562" cy="561976"/>
            </a:xfrm>
            <a:prstGeom prst="ellipse">
              <a:avLst/>
            </a:prstGeom>
            <a:noFill/>
            <a:ln w="38100">
              <a:solidFill>
                <a:srgbClr val="FC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4" name="正方形/長方形 13"/>
            <p:cNvSpPr/>
            <p:nvPr/>
          </p:nvSpPr>
          <p:spPr>
            <a:xfrm>
              <a:off x="10801349" y="3362801"/>
              <a:ext cx="784251" cy="352425"/>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パリィ</a:t>
              </a:r>
              <a:endParaRPr kumimoji="1" lang="ja-JP" altLang="en-US" dirty="0">
                <a:solidFill>
                  <a:schemeClr val="bg1"/>
                </a:solidFill>
              </a:endParaRPr>
            </a:p>
          </p:txBody>
        </p:sp>
        <p:sp>
          <p:nvSpPr>
            <p:cNvPr id="15" name="正方形/長方形 14"/>
            <p:cNvSpPr/>
            <p:nvPr/>
          </p:nvSpPr>
          <p:spPr>
            <a:xfrm>
              <a:off x="9763946" y="2609797"/>
              <a:ext cx="994295" cy="352425"/>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ジャンプ</a:t>
              </a:r>
              <a:endParaRPr kumimoji="1" lang="ja-JP" altLang="en-US" dirty="0">
                <a:solidFill>
                  <a:schemeClr val="bg1"/>
                </a:solidFill>
              </a:endParaRPr>
            </a:p>
          </p:txBody>
        </p:sp>
        <p:sp>
          <p:nvSpPr>
            <p:cNvPr id="16" name="正方形/長方形 15"/>
            <p:cNvSpPr/>
            <p:nvPr/>
          </p:nvSpPr>
          <p:spPr>
            <a:xfrm>
              <a:off x="10261093" y="4077837"/>
              <a:ext cx="649795" cy="352425"/>
            </a:xfrm>
            <a:prstGeom prst="rect">
              <a:avLst/>
            </a:prstGeom>
            <a:solidFill>
              <a:schemeClr val="tx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回避</a:t>
              </a:r>
            </a:p>
          </p:txBody>
        </p:sp>
        <p:sp>
          <p:nvSpPr>
            <p:cNvPr id="17" name="正方形/長方形 16"/>
            <p:cNvSpPr/>
            <p:nvPr/>
          </p:nvSpPr>
          <p:spPr>
            <a:xfrm>
              <a:off x="8687592" y="3348249"/>
              <a:ext cx="1047854" cy="352425"/>
            </a:xfrm>
            <a:prstGeom prst="rect">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ダッシュ</a:t>
              </a:r>
              <a:endParaRPr kumimoji="1" lang="ja-JP" altLang="en-US" dirty="0">
                <a:solidFill>
                  <a:schemeClr val="bg1"/>
                </a:solidFill>
              </a:endParaRPr>
            </a:p>
          </p:txBody>
        </p:sp>
        <p:cxnSp>
          <p:nvCxnSpPr>
            <p:cNvPr id="19" name="直線コネクタ 18"/>
            <p:cNvCxnSpPr>
              <a:stCxn id="15" idx="2"/>
              <a:endCxn id="10" idx="0"/>
            </p:cNvCxnSpPr>
            <p:nvPr/>
          </p:nvCxnSpPr>
          <p:spPr>
            <a:xfrm>
              <a:off x="10261094" y="2962222"/>
              <a:ext cx="0" cy="1815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a:stCxn id="14" idx="1"/>
              <a:endCxn id="9" idx="6"/>
            </p:cNvCxnSpPr>
            <p:nvPr/>
          </p:nvCxnSpPr>
          <p:spPr>
            <a:xfrm flipH="1">
              <a:off x="10679906" y="3539014"/>
              <a:ext cx="121443" cy="7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a:stCxn id="16" idx="0"/>
            </p:cNvCxnSpPr>
            <p:nvPr/>
          </p:nvCxnSpPr>
          <p:spPr>
            <a:xfrm flipH="1" flipV="1">
              <a:off x="10261094" y="3934830"/>
              <a:ext cx="324897" cy="143007"/>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11" idx="2"/>
              <a:endCxn id="17" idx="3"/>
            </p:cNvCxnSpPr>
            <p:nvPr/>
          </p:nvCxnSpPr>
          <p:spPr>
            <a:xfrm flipH="1" flipV="1">
              <a:off x="9735446" y="3524462"/>
              <a:ext cx="101279" cy="14552"/>
            </a:xfrm>
            <a:prstGeom prst="line">
              <a:avLst/>
            </a:prstGeom>
            <a:ln w="28575">
              <a:solidFill>
                <a:srgbClr val="007DD2"/>
              </a:solidFill>
            </a:ln>
          </p:spPr>
          <p:style>
            <a:lnRef idx="1">
              <a:schemeClr val="accent1"/>
            </a:lnRef>
            <a:fillRef idx="0">
              <a:schemeClr val="accent1"/>
            </a:fillRef>
            <a:effectRef idx="0">
              <a:schemeClr val="accent1"/>
            </a:effectRef>
            <a:fontRef idx="minor">
              <a:schemeClr val="tx1"/>
            </a:fontRef>
          </p:style>
        </p:cxnSp>
        <p:sp>
          <p:nvSpPr>
            <p:cNvPr id="31" name="楕円 30"/>
            <p:cNvSpPr/>
            <p:nvPr/>
          </p:nvSpPr>
          <p:spPr>
            <a:xfrm>
              <a:off x="9494256" y="3811332"/>
              <a:ext cx="563562" cy="561976"/>
            </a:xfrm>
            <a:prstGeom prst="ellipse">
              <a:avLst/>
            </a:prstGeom>
            <a:noFill/>
            <a:ln w="38100">
              <a:solidFill>
                <a:srgbClr val="AC75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32" name="正方形/長方形 31"/>
            <p:cNvSpPr/>
            <p:nvPr/>
          </p:nvSpPr>
          <p:spPr>
            <a:xfrm>
              <a:off x="7959469" y="2779934"/>
              <a:ext cx="649795" cy="352425"/>
            </a:xfrm>
            <a:prstGeom prst="rect">
              <a:avLst/>
            </a:prstGeom>
            <a:solidFill>
              <a:schemeClr val="tx1"/>
            </a:solidFill>
            <a:ln>
              <a:solidFill>
                <a:srgbClr val="FC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移動</a:t>
              </a:r>
              <a:endParaRPr kumimoji="1" lang="ja-JP" altLang="en-US" dirty="0">
                <a:solidFill>
                  <a:schemeClr val="bg1"/>
                </a:solidFill>
              </a:endParaRPr>
            </a:p>
          </p:txBody>
        </p:sp>
        <p:sp>
          <p:nvSpPr>
            <p:cNvPr id="33" name="正方形/長方形 32"/>
            <p:cNvSpPr/>
            <p:nvPr/>
          </p:nvSpPr>
          <p:spPr>
            <a:xfrm>
              <a:off x="9373289" y="4575978"/>
              <a:ext cx="805496" cy="352425"/>
            </a:xfrm>
            <a:prstGeom prst="rect">
              <a:avLst/>
            </a:prstGeom>
            <a:solidFill>
              <a:schemeClr val="tx1"/>
            </a:solidFill>
            <a:ln>
              <a:solidFill>
                <a:srgbClr val="AC75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bg1"/>
                  </a:solidFill>
                </a:rPr>
                <a:t>カメラ</a:t>
              </a:r>
              <a:endParaRPr kumimoji="1" lang="ja-JP" altLang="en-US" dirty="0">
                <a:solidFill>
                  <a:schemeClr val="bg1"/>
                </a:solidFill>
              </a:endParaRPr>
            </a:p>
          </p:txBody>
        </p:sp>
        <p:cxnSp>
          <p:nvCxnSpPr>
            <p:cNvPr id="36" name="直線コネクタ 35"/>
            <p:cNvCxnSpPr>
              <a:stCxn id="13" idx="0"/>
              <a:endCxn id="32" idx="2"/>
            </p:cNvCxnSpPr>
            <p:nvPr/>
          </p:nvCxnSpPr>
          <p:spPr>
            <a:xfrm flipV="1">
              <a:off x="8284367" y="3132359"/>
              <a:ext cx="0" cy="125666"/>
            </a:xfrm>
            <a:prstGeom prst="line">
              <a:avLst/>
            </a:prstGeom>
            <a:ln w="28575">
              <a:solidFill>
                <a:srgbClr val="FC8814"/>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a:stCxn id="33" idx="0"/>
              <a:endCxn id="31" idx="4"/>
            </p:cNvCxnSpPr>
            <p:nvPr/>
          </p:nvCxnSpPr>
          <p:spPr>
            <a:xfrm flipV="1">
              <a:off x="9776037" y="4373308"/>
              <a:ext cx="0" cy="202670"/>
            </a:xfrm>
            <a:prstGeom prst="line">
              <a:avLst/>
            </a:prstGeom>
            <a:ln w="28575">
              <a:solidFill>
                <a:srgbClr val="007DD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46059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石版">
  <a:themeElements>
    <a:clrScheme name="石版">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石版">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石版">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TM04033929[[fn=石版]]</Template>
  <TotalTime>190</TotalTime>
  <Words>271</Words>
  <Application>Microsoft Office PowerPoint</Application>
  <PresentationFormat>ワイド画面</PresentationFormat>
  <Paragraphs>58</Paragraphs>
  <Slides>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ＭＳ Ｐゴシック</vt:lpstr>
      <vt:lpstr>Calisto MT</vt:lpstr>
      <vt:lpstr>Trebuchet MS</vt:lpstr>
      <vt:lpstr>Wingdings</vt:lpstr>
      <vt:lpstr>Wingdings 2</vt:lpstr>
      <vt:lpstr>石版</vt:lpstr>
      <vt:lpstr>Endless Encore</vt:lpstr>
      <vt:lpstr>開発環境</vt:lpstr>
      <vt:lpstr>見知らぬ劇場で目覚めた主人公は…</vt:lpstr>
      <vt:lpstr>敵の攻撃をパリィで弾き返そう！</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Endless Encore</dc:title>
  <dc:creator>善原 敬子</dc:creator>
  <cp:lastModifiedBy>善原 敬子</cp:lastModifiedBy>
  <cp:revision>18</cp:revision>
  <dcterms:created xsi:type="dcterms:W3CDTF">2025-12-12T05:41:16Z</dcterms:created>
  <dcterms:modified xsi:type="dcterms:W3CDTF">2025-12-15T03:29:49Z</dcterms:modified>
</cp:coreProperties>
</file>