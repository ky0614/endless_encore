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2" r:id="rId1"/>
  </p:sldMasterIdLst>
  <p:sldIdLst>
    <p:sldId id="256" r:id="rId2"/>
    <p:sldId id="257" r:id="rId3"/>
    <p:sldId id="261" r:id="rId4"/>
    <p:sldId id="258" r:id="rId5"/>
    <p:sldId id="259" r:id="rId6"/>
    <p:sldId id="260" r:id="rId7"/>
    <p:sldId id="263"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75D5"/>
    <a:srgbClr val="FC8814"/>
    <a:srgbClr val="007D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26"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ja-JP" altLang="en-US"/>
              <a:t>マスター タイトルの書式設定</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1361420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2222902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1147002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3435311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2835675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620515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92240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ja-JP" altLang="en-US"/>
              <a:t>マスター タイトルの書式設定</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1305143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図を追加</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3586783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1882810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3677891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ja-JP" altLang="en-US"/>
              <a:t>マスター タイトルの書式設定</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33994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2346949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ja-JP" altLang="en-US"/>
              <a:t>マスター タイトルの書式設定</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3710924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ja-JP" altLang="en-US"/>
              <a:t>マスター タイトルの書式設定</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図を追加</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図を追加</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図を追加</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39908770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2652557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4C8862-C2F6-4E47-986F-E6EA68565290}" type="datetimeFigureOut">
              <a:rPr kumimoji="1" lang="ja-JP" altLang="en-US" smtClean="0"/>
              <a:t>2025/12/19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1816681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74C8862-C2F6-4E47-986F-E6EA68565290}" type="datetimeFigureOut">
              <a:rPr kumimoji="1" lang="ja-JP" altLang="en-US" smtClean="0"/>
              <a:t>2025/12/19</a:t>
            </a:fld>
            <a:endParaRPr kumimoji="1" lang="ja-JP" alt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kumimoji="1" lang="ja-JP" alt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C8B1A53-BC39-4D7C-988E-02DCCFFC8507}" type="slidenum">
              <a:rPr kumimoji="1" lang="ja-JP" altLang="en-US" smtClean="0"/>
              <a:t>‹#›</a:t>
            </a:fld>
            <a:endParaRPr kumimoji="1" lang="ja-JP" altLang="en-US"/>
          </a:p>
        </p:txBody>
      </p:sp>
    </p:spTree>
    <p:extLst>
      <p:ext uri="{BB962C8B-B14F-4D97-AF65-F5344CB8AC3E}">
        <p14:creationId xmlns:p14="http://schemas.microsoft.com/office/powerpoint/2010/main" val="1609822182"/>
      </p:ext>
    </p:extLst>
  </p:cSld>
  <p:clrMap bg1="dk1" tx1="lt1" bg2="dk2" tx2="lt2" accent1="accent1" accent2="accent2" accent3="accent3" accent4="accent4" accent5="accent5" accent6="accent6" hlink="hlink" folHlink="folHlink"/>
  <p:sldLayoutIdLst>
    <p:sldLayoutId id="2147484023" r:id="rId1"/>
    <p:sldLayoutId id="2147484024" r:id="rId2"/>
    <p:sldLayoutId id="2147484025" r:id="rId3"/>
    <p:sldLayoutId id="2147484026" r:id="rId4"/>
    <p:sldLayoutId id="2147484027" r:id="rId5"/>
    <p:sldLayoutId id="2147484028" r:id="rId6"/>
    <p:sldLayoutId id="2147484029" r:id="rId7"/>
    <p:sldLayoutId id="2147484030" r:id="rId8"/>
    <p:sldLayoutId id="2147484031" r:id="rId9"/>
    <p:sldLayoutId id="2147484032" r:id="rId10"/>
    <p:sldLayoutId id="2147484033" r:id="rId11"/>
    <p:sldLayoutId id="2147484034" r:id="rId12"/>
    <p:sldLayoutId id="2147484035" r:id="rId13"/>
    <p:sldLayoutId id="2147484036" r:id="rId14"/>
    <p:sldLayoutId id="2147484037" r:id="rId15"/>
    <p:sldLayoutId id="2147484038" r:id="rId16"/>
    <p:sldLayoutId id="2147484039" r:id="rId17"/>
  </p:sldLayoutIdLst>
  <p:txStyles>
    <p:titleStyle>
      <a:lvl1pPr algn="ctr" defTabSz="457200" rtl="0" eaLnBrk="1" latinLnBrk="0" hangingPunct="1">
        <a:spcBef>
          <a:spcPct val="0"/>
        </a:spcBef>
        <a:buNone/>
        <a:defRPr kumimoji="1"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kumimoji="1"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kumimoji="1"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kumimoji="1"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kumimoji="1"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nlohmann/json" TargetMode="External"/><Relationship Id="rId2" Type="http://schemas.openxmlformats.org/officeDocument/2006/relationships/hyperlink" Target="https://dxlib.xsrv.jp/index.html" TargetMode="Externa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hyperlink" Target="https://effekseer.github.io/jp/"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370693" y="2592491"/>
            <a:ext cx="9440034" cy="1133437"/>
          </a:xfrm>
        </p:spPr>
        <p:txBody>
          <a:bodyPr>
            <a:normAutofit/>
          </a:bodyPr>
          <a:lstStyle/>
          <a:p>
            <a:r>
              <a:rPr kumimoji="1" lang="en-US" altLang="ja-JP" sz="6600" dirty="0"/>
              <a:t>Endless Encore</a:t>
            </a:r>
            <a:endParaRPr kumimoji="1" lang="ja-JP" altLang="en-US" sz="6600" dirty="0"/>
          </a:p>
        </p:txBody>
      </p:sp>
      <p:sp>
        <p:nvSpPr>
          <p:cNvPr id="3" name="サブタイトル 2"/>
          <p:cNvSpPr>
            <a:spLocks noGrp="1"/>
          </p:cNvSpPr>
          <p:nvPr>
            <p:ph type="subTitle" idx="1"/>
          </p:nvPr>
        </p:nvSpPr>
        <p:spPr>
          <a:xfrm>
            <a:off x="1370693" y="4427436"/>
            <a:ext cx="9440034" cy="434015"/>
          </a:xfrm>
        </p:spPr>
        <p:txBody>
          <a:bodyPr/>
          <a:lstStyle/>
          <a:p>
            <a:r>
              <a:rPr kumimoji="1" lang="en-US" altLang="ja-JP" dirty="0">
                <a:effectLst>
                  <a:outerShdw blurRad="38100" dist="38100" dir="2700000" algn="tl">
                    <a:srgbClr val="000000">
                      <a:alpha val="43137"/>
                    </a:srgbClr>
                  </a:outerShdw>
                </a:effectLst>
              </a:rPr>
              <a:t>ASO</a:t>
            </a:r>
            <a:r>
              <a:rPr kumimoji="1" lang="ja-JP" altLang="en-US" dirty="0">
                <a:effectLst>
                  <a:outerShdw blurRad="38100" dist="38100" dir="2700000" algn="tl">
                    <a:srgbClr val="000000">
                      <a:alpha val="43137"/>
                    </a:srgbClr>
                  </a:outerShdw>
                </a:effectLst>
              </a:rPr>
              <a:t>ポップカルチャー専門学校　ゲーム専攻科</a:t>
            </a:r>
            <a:r>
              <a:rPr kumimoji="1" lang="en-US" altLang="ja-JP" dirty="0">
                <a:effectLst>
                  <a:outerShdw blurRad="38100" dist="38100" dir="2700000" algn="tl">
                    <a:srgbClr val="000000">
                      <a:alpha val="43137"/>
                    </a:srgbClr>
                  </a:outerShdw>
                </a:effectLst>
              </a:rPr>
              <a:t>3</a:t>
            </a:r>
            <a:r>
              <a:rPr kumimoji="1" lang="ja-JP" altLang="en-US" dirty="0">
                <a:effectLst>
                  <a:outerShdw blurRad="38100" dist="38100" dir="2700000" algn="tl">
                    <a:srgbClr val="000000">
                      <a:alpha val="43137"/>
                    </a:srgbClr>
                  </a:outerShdw>
                </a:effectLst>
              </a:rPr>
              <a:t>年　善原　敬子</a:t>
            </a:r>
          </a:p>
        </p:txBody>
      </p:sp>
      <p:sp>
        <p:nvSpPr>
          <p:cNvPr id="5" name="サブタイトル 2"/>
          <p:cNvSpPr txBox="1">
            <a:spLocks/>
          </p:cNvSpPr>
          <p:nvPr/>
        </p:nvSpPr>
        <p:spPr>
          <a:xfrm>
            <a:off x="4939994" y="3725928"/>
            <a:ext cx="2301432" cy="43401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0" indent="0" algn="ctr" defTabSz="457200" rtl="0" eaLnBrk="1" latinLnBrk="0" hangingPunct="1">
              <a:spcBef>
                <a:spcPct val="20000"/>
              </a:spcBef>
              <a:spcAft>
                <a:spcPts val="600"/>
              </a:spcAft>
              <a:buClr>
                <a:schemeClr val="tx2"/>
              </a:buClr>
              <a:buSzPct val="70000"/>
              <a:buFont typeface="Wingdings 2" charset="2"/>
              <a:buNone/>
              <a:defRPr kumimoji="1"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kumimoji="1"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kumimoji="1"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kumimoji="1"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kumimoji="1"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kumimoji="1"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kumimoji="1"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kumimoji="1"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kumimoji="1"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r>
              <a:rPr lang="en-US" altLang="ja-JP" dirty="0">
                <a:effectLst>
                  <a:outerShdw blurRad="38100" dist="38100" dir="2700000" algn="tl">
                    <a:srgbClr val="000000">
                      <a:alpha val="43137"/>
                    </a:srgbClr>
                  </a:outerShdw>
                </a:effectLst>
              </a:rPr>
              <a:t>3D</a:t>
            </a:r>
            <a:r>
              <a:rPr lang="ja-JP" altLang="en-US" dirty="0">
                <a:effectLst>
                  <a:outerShdw blurRad="38100" dist="38100" dir="2700000" algn="tl">
                    <a:srgbClr val="000000">
                      <a:alpha val="43137"/>
                    </a:srgbClr>
                  </a:outerShdw>
                </a:effectLst>
              </a:rPr>
              <a:t>アクション</a:t>
            </a:r>
          </a:p>
        </p:txBody>
      </p:sp>
    </p:spTree>
    <p:extLst>
      <p:ext uri="{BB962C8B-B14F-4D97-AF65-F5344CB8AC3E}">
        <p14:creationId xmlns:p14="http://schemas.microsoft.com/office/powerpoint/2010/main" val="1459279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13795" y="400050"/>
            <a:ext cx="10353762" cy="970450"/>
          </a:xfrm>
        </p:spPr>
        <p:txBody>
          <a:bodyPr/>
          <a:lstStyle/>
          <a:p>
            <a:r>
              <a:rPr kumimoji="1" lang="ja-JP" altLang="en-US" dirty="0"/>
              <a:t>開発環境</a:t>
            </a:r>
          </a:p>
        </p:txBody>
      </p:sp>
      <p:sp>
        <p:nvSpPr>
          <p:cNvPr id="3" name="コンテンツ プレースホルダー 2"/>
          <p:cNvSpPr>
            <a:spLocks noGrp="1"/>
          </p:cNvSpPr>
          <p:nvPr>
            <p:ph idx="1"/>
          </p:nvPr>
        </p:nvSpPr>
        <p:spPr>
          <a:xfrm>
            <a:off x="913795" y="1560999"/>
            <a:ext cx="10353762" cy="4747864"/>
          </a:xfrm>
        </p:spPr>
        <p:txBody>
          <a:bodyPr>
            <a:normAutofit lnSpcReduction="10000"/>
          </a:bodyPr>
          <a:lstStyle/>
          <a:p>
            <a:r>
              <a:rPr kumimoji="1" lang="ja-JP" altLang="en-US" sz="2400" u="sng" dirty="0"/>
              <a:t>ゲームエンジン未使用</a:t>
            </a:r>
            <a:endParaRPr kumimoji="1" lang="en-US" altLang="ja-JP" sz="2400" u="sng" dirty="0"/>
          </a:p>
          <a:p>
            <a:r>
              <a:rPr kumimoji="1" lang="ja-JP" altLang="en-US" sz="2400" dirty="0"/>
              <a:t>開発環境</a:t>
            </a:r>
            <a:endParaRPr kumimoji="1" lang="en-US" altLang="ja-JP" sz="2400" dirty="0"/>
          </a:p>
          <a:p>
            <a:pPr marL="36900" indent="0">
              <a:buNone/>
            </a:pPr>
            <a:r>
              <a:rPr lang="en-US" altLang="ja-JP" dirty="0"/>
              <a:t>Visual Studio 2022</a:t>
            </a:r>
            <a:endParaRPr lang="en-US" altLang="ja-JP" sz="1800" dirty="0"/>
          </a:p>
          <a:p>
            <a:r>
              <a:rPr lang="ja-JP" altLang="en-US" sz="1800" dirty="0"/>
              <a:t>使用した外部ライブラリ</a:t>
            </a:r>
            <a:endParaRPr lang="en-US" altLang="ja-JP" sz="1800" dirty="0"/>
          </a:p>
          <a:p>
            <a:pPr marL="36900" indent="0">
              <a:buNone/>
            </a:pPr>
            <a:r>
              <a:rPr lang="en-US" altLang="ja-JP" sz="1800" dirty="0">
                <a:hlinkClick r:id="rId2"/>
              </a:rPr>
              <a:t>DX</a:t>
            </a:r>
            <a:r>
              <a:rPr lang="ja-JP" altLang="en-US" sz="1800" dirty="0">
                <a:hlinkClick r:id="rId2"/>
              </a:rPr>
              <a:t>ライブラリ</a:t>
            </a:r>
            <a:r>
              <a:rPr lang="ja-JP" altLang="en-US" sz="1800" dirty="0"/>
              <a:t>（ゲーム開発に使用するため）</a:t>
            </a:r>
            <a:endParaRPr lang="en-US" altLang="ja-JP" sz="1800" dirty="0"/>
          </a:p>
          <a:p>
            <a:pPr marL="36900" indent="0">
              <a:buNone/>
            </a:pPr>
            <a:r>
              <a:rPr lang="en-US" altLang="ja-JP" sz="1800" dirty="0">
                <a:hlinkClick r:id="rId3"/>
              </a:rPr>
              <a:t>nlohmann json</a:t>
            </a:r>
            <a:r>
              <a:rPr lang="en-US" altLang="ja-JP" sz="1800" dirty="0"/>
              <a:t>(json</a:t>
            </a:r>
            <a:r>
              <a:rPr lang="ja-JP" altLang="en-US" sz="1800" dirty="0"/>
              <a:t>データを扱うため</a:t>
            </a:r>
            <a:r>
              <a:rPr lang="en-US" altLang="ja-JP" sz="1800" dirty="0"/>
              <a:t>)</a:t>
            </a:r>
          </a:p>
          <a:p>
            <a:pPr marL="36900" indent="0">
              <a:buNone/>
            </a:pPr>
            <a:r>
              <a:rPr lang="en-US" altLang="ja-JP" sz="1800" dirty="0">
                <a:hlinkClick r:id="rId4"/>
              </a:rPr>
              <a:t>Effekseer</a:t>
            </a:r>
            <a:r>
              <a:rPr lang="en-US" altLang="ja-JP" sz="1800" dirty="0"/>
              <a:t>(Effekseer</a:t>
            </a:r>
            <a:r>
              <a:rPr lang="ja-JP" altLang="en-US" sz="1800" dirty="0"/>
              <a:t>のエフェクトを扱うため</a:t>
            </a:r>
            <a:r>
              <a:rPr lang="en-US" altLang="ja-JP" sz="1800" dirty="0"/>
              <a:t>)</a:t>
            </a:r>
          </a:p>
          <a:p>
            <a:r>
              <a:rPr lang="ja-JP" altLang="en-US" sz="2400" dirty="0"/>
              <a:t>プレイ人数</a:t>
            </a:r>
            <a:endParaRPr lang="en-US" altLang="ja-JP" sz="1800" dirty="0"/>
          </a:p>
          <a:p>
            <a:pPr marL="36900" indent="0">
              <a:buNone/>
            </a:pPr>
            <a:r>
              <a:rPr lang="ja-JP" altLang="en-US" sz="1800" dirty="0"/>
              <a:t>１人</a:t>
            </a:r>
            <a:endParaRPr lang="en-US" altLang="ja-JP" sz="1800" dirty="0"/>
          </a:p>
          <a:p>
            <a:r>
              <a:rPr lang="ja-JP" altLang="en-US" sz="2400" dirty="0"/>
              <a:t>ジャンル</a:t>
            </a:r>
            <a:endParaRPr lang="en-US" altLang="ja-JP" sz="2400" dirty="0"/>
          </a:p>
          <a:p>
            <a:pPr marL="36900" indent="0">
              <a:buNone/>
            </a:pPr>
            <a:r>
              <a:rPr lang="en-US" altLang="ja-JP" sz="1800" dirty="0"/>
              <a:t>3D</a:t>
            </a:r>
            <a:r>
              <a:rPr lang="ja-JP" altLang="en-US" sz="1800" dirty="0"/>
              <a:t>アクション</a:t>
            </a:r>
            <a:endParaRPr lang="en-US" altLang="ja-JP" sz="2400" dirty="0"/>
          </a:p>
          <a:p>
            <a:pPr marL="36900" indent="0">
              <a:buNone/>
            </a:pPr>
            <a:endParaRPr lang="en-US" altLang="ja-JP" sz="1800" dirty="0"/>
          </a:p>
          <a:p>
            <a:pPr marL="36900" indent="0">
              <a:buNone/>
            </a:pPr>
            <a:endParaRPr lang="en-US" altLang="ja-JP" dirty="0"/>
          </a:p>
        </p:txBody>
      </p:sp>
      <p:pic>
        <p:nvPicPr>
          <p:cNvPr id="4" name="図 3"/>
          <p:cNvPicPr>
            <a:picLocks noChangeAspect="1"/>
          </p:cNvPicPr>
          <p:nvPr/>
        </p:nvPicPr>
        <p:blipFill rotWithShape="1">
          <a:blip r:embed="rId5" cstate="print">
            <a:extLst>
              <a:ext uri="{28A0092B-C50C-407E-A947-70E740481C1C}">
                <a14:useLocalDpi xmlns:a14="http://schemas.microsoft.com/office/drawing/2010/main" val="0"/>
              </a:ext>
            </a:extLst>
          </a:blip>
          <a:srcRect t="4203" r="6869"/>
          <a:stretch/>
        </p:blipFill>
        <p:spPr>
          <a:xfrm>
            <a:off x="5631584" y="1961321"/>
            <a:ext cx="6044973" cy="3497619"/>
          </a:xfrm>
          <a:prstGeom prst="rect">
            <a:avLst/>
          </a:prstGeom>
        </p:spPr>
      </p:pic>
    </p:spTree>
    <p:extLst>
      <p:ext uri="{BB962C8B-B14F-4D97-AF65-F5344CB8AC3E}">
        <p14:creationId xmlns:p14="http://schemas.microsoft.com/office/powerpoint/2010/main" val="984347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9757" y="278295"/>
            <a:ext cx="8974931" cy="970450"/>
          </a:xfrm>
        </p:spPr>
        <p:txBody>
          <a:bodyPr/>
          <a:lstStyle/>
          <a:p>
            <a:r>
              <a:rPr kumimoji="1" lang="ja-JP" altLang="en-US" dirty="0"/>
              <a:t>見知らぬ劇場で目覚めた主人公は</a:t>
            </a:r>
            <a:r>
              <a:rPr kumimoji="1" lang="en-US" altLang="ja-JP" dirty="0"/>
              <a:t>…</a:t>
            </a:r>
            <a:endParaRPr kumimoji="1" lang="ja-JP" altLang="en-US" dirty="0"/>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10048"/>
          <a:stretch/>
        </p:blipFill>
        <p:spPr>
          <a:xfrm>
            <a:off x="200646" y="1523991"/>
            <a:ext cx="3511826" cy="1776908"/>
          </a:xfrm>
          <a:prstGeom prst="rect">
            <a:avLst/>
          </a:prstGeom>
        </p:spPr>
      </p:pic>
      <p:pic>
        <p:nvPicPr>
          <p:cNvPr id="4" name="図 3"/>
          <p:cNvPicPr>
            <a:picLocks noChangeAspect="1"/>
          </p:cNvPicPr>
          <p:nvPr/>
        </p:nvPicPr>
        <p:blipFill rotWithShape="1">
          <a:blip r:embed="rId3" cstate="print">
            <a:extLst>
              <a:ext uri="{28A0092B-C50C-407E-A947-70E740481C1C}">
                <a14:useLocalDpi xmlns:a14="http://schemas.microsoft.com/office/drawing/2010/main" val="0"/>
              </a:ext>
            </a:extLst>
          </a:blip>
          <a:srcRect t="4058" r="6956"/>
          <a:stretch/>
        </p:blipFill>
        <p:spPr>
          <a:xfrm>
            <a:off x="1511291" y="3942315"/>
            <a:ext cx="3220423" cy="1867922"/>
          </a:xfrm>
          <a:prstGeom prst="rect">
            <a:avLst/>
          </a:prstGeom>
        </p:spPr>
      </p:pic>
      <p:pic>
        <p:nvPicPr>
          <p:cNvPr id="5" name="図 4"/>
          <p:cNvPicPr>
            <a:picLocks noChangeAspect="1"/>
          </p:cNvPicPr>
          <p:nvPr/>
        </p:nvPicPr>
        <p:blipFill rotWithShape="1">
          <a:blip r:embed="rId4" cstate="print">
            <a:extLst>
              <a:ext uri="{28A0092B-C50C-407E-A947-70E740481C1C}">
                <a14:useLocalDpi xmlns:a14="http://schemas.microsoft.com/office/drawing/2010/main" val="0"/>
              </a:ext>
            </a:extLst>
          </a:blip>
          <a:srcRect t="9744" r="192"/>
          <a:stretch/>
        </p:blipFill>
        <p:spPr>
          <a:xfrm>
            <a:off x="6129026" y="3886429"/>
            <a:ext cx="3782031" cy="1923808"/>
          </a:xfrm>
          <a:prstGeom prst="rect">
            <a:avLst/>
          </a:prstGeom>
        </p:spPr>
      </p:pic>
      <p:pic>
        <p:nvPicPr>
          <p:cNvPr id="6" name="図 5"/>
          <p:cNvPicPr>
            <a:picLocks noChangeAspect="1"/>
          </p:cNvPicPr>
          <p:nvPr/>
        </p:nvPicPr>
        <p:blipFill rotWithShape="1">
          <a:blip r:embed="rId5" cstate="print">
            <a:extLst>
              <a:ext uri="{28A0092B-C50C-407E-A947-70E740481C1C}">
                <a14:useLocalDpi xmlns:a14="http://schemas.microsoft.com/office/drawing/2010/main" val="0"/>
              </a:ext>
            </a:extLst>
          </a:blip>
          <a:srcRect t="9468"/>
          <a:stretch/>
        </p:blipFill>
        <p:spPr>
          <a:xfrm>
            <a:off x="4209820" y="1523991"/>
            <a:ext cx="3522430" cy="1793759"/>
          </a:xfrm>
          <a:prstGeom prst="rect">
            <a:avLst/>
          </a:prstGeom>
        </p:spPr>
      </p:pic>
      <p:pic>
        <p:nvPicPr>
          <p:cNvPr id="8" name="図 7"/>
          <p:cNvPicPr>
            <a:picLocks noChangeAspect="1"/>
          </p:cNvPicPr>
          <p:nvPr/>
        </p:nvPicPr>
        <p:blipFill rotWithShape="1">
          <a:blip r:embed="rId6" cstate="print">
            <a:extLst>
              <a:ext uri="{28A0092B-C50C-407E-A947-70E740481C1C}">
                <a14:useLocalDpi xmlns:a14="http://schemas.microsoft.com/office/drawing/2010/main" val="0"/>
              </a:ext>
            </a:extLst>
          </a:blip>
          <a:srcRect t="10241"/>
          <a:stretch/>
        </p:blipFill>
        <p:spPr>
          <a:xfrm>
            <a:off x="8229599" y="1523991"/>
            <a:ext cx="3578087" cy="1806545"/>
          </a:xfrm>
          <a:prstGeom prst="rect">
            <a:avLst/>
          </a:prstGeom>
        </p:spPr>
      </p:pic>
      <p:sp>
        <p:nvSpPr>
          <p:cNvPr id="9" name="右矢印 8"/>
          <p:cNvSpPr/>
          <p:nvPr/>
        </p:nvSpPr>
        <p:spPr>
          <a:xfrm rot="3492321">
            <a:off x="1563505" y="3333826"/>
            <a:ext cx="899104" cy="741972"/>
          </a:xfrm>
          <a:prstGeom prst="rightArrow">
            <a:avLst>
              <a:gd name="adj1" fmla="val 50000"/>
              <a:gd name="adj2" fmla="val 48081"/>
            </a:avLst>
          </a:prstGeom>
          <a:solidFill>
            <a:srgbClr val="00B0F0"/>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右矢印 9"/>
          <p:cNvSpPr/>
          <p:nvPr/>
        </p:nvSpPr>
        <p:spPr>
          <a:xfrm rot="19572217">
            <a:off x="3879773" y="3311965"/>
            <a:ext cx="899104" cy="741972"/>
          </a:xfrm>
          <a:prstGeom prst="rightArrow">
            <a:avLst>
              <a:gd name="adj1" fmla="val 50000"/>
              <a:gd name="adj2" fmla="val 48081"/>
            </a:avLst>
          </a:prstGeom>
          <a:solidFill>
            <a:srgbClr val="00B0F0"/>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右矢印 10"/>
          <p:cNvSpPr/>
          <p:nvPr/>
        </p:nvSpPr>
        <p:spPr>
          <a:xfrm rot="2626458">
            <a:off x="6431873" y="3311965"/>
            <a:ext cx="899104" cy="741972"/>
          </a:xfrm>
          <a:prstGeom prst="rightArrow">
            <a:avLst>
              <a:gd name="adj1" fmla="val 50000"/>
              <a:gd name="adj2" fmla="val 48081"/>
            </a:avLst>
          </a:prstGeom>
          <a:solidFill>
            <a:srgbClr val="00B0F0"/>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右矢印 11"/>
          <p:cNvSpPr/>
          <p:nvPr/>
        </p:nvSpPr>
        <p:spPr>
          <a:xfrm rot="19386197">
            <a:off x="8586888" y="3259047"/>
            <a:ext cx="899104" cy="741972"/>
          </a:xfrm>
          <a:prstGeom prst="rightArrow">
            <a:avLst>
              <a:gd name="adj1" fmla="val 50000"/>
              <a:gd name="adj2" fmla="val 48081"/>
            </a:avLst>
          </a:prstGeom>
          <a:solidFill>
            <a:srgbClr val="00B0F0"/>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爆発 1 13"/>
          <p:cNvSpPr/>
          <p:nvPr/>
        </p:nvSpPr>
        <p:spPr>
          <a:xfrm>
            <a:off x="9851983" y="1182717"/>
            <a:ext cx="2207173" cy="1219209"/>
          </a:xfrm>
          <a:prstGeom prst="irregularSeal1">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敵出現！</a:t>
            </a:r>
          </a:p>
        </p:txBody>
      </p:sp>
      <p:sp>
        <p:nvSpPr>
          <p:cNvPr id="15" name="四角形吹き出し 14"/>
          <p:cNvSpPr/>
          <p:nvPr/>
        </p:nvSpPr>
        <p:spPr>
          <a:xfrm>
            <a:off x="6707439" y="4196617"/>
            <a:ext cx="502658" cy="557221"/>
          </a:xfrm>
          <a:prstGeom prst="wedgeRectCallout">
            <a:avLst>
              <a:gd name="adj1" fmla="val 94169"/>
              <a:gd name="adj2" fmla="val 13459"/>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3600" dirty="0">
                <a:solidFill>
                  <a:schemeClr val="bg1"/>
                </a:solidFill>
              </a:rPr>
              <a:t>！</a:t>
            </a:r>
          </a:p>
        </p:txBody>
      </p:sp>
      <p:sp>
        <p:nvSpPr>
          <p:cNvPr id="16" name="角丸四角形吹き出し 15"/>
          <p:cNvSpPr/>
          <p:nvPr/>
        </p:nvSpPr>
        <p:spPr>
          <a:xfrm>
            <a:off x="9448037" y="4356974"/>
            <a:ext cx="1860332" cy="816645"/>
          </a:xfrm>
          <a:prstGeom prst="wedgeRoundRectCallout">
            <a:avLst>
              <a:gd name="adj1" fmla="val -42867"/>
              <a:gd name="adj2" fmla="val 68935"/>
              <a:gd name="adj3" fmla="val 16667"/>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突然真っ暗に！</a:t>
            </a:r>
          </a:p>
        </p:txBody>
      </p:sp>
      <p:sp>
        <p:nvSpPr>
          <p:cNvPr id="17" name="角丸四角形吹き出し 16"/>
          <p:cNvSpPr/>
          <p:nvPr/>
        </p:nvSpPr>
        <p:spPr>
          <a:xfrm>
            <a:off x="495498" y="4241308"/>
            <a:ext cx="1860332" cy="816645"/>
          </a:xfrm>
          <a:prstGeom prst="wedgeRoundRectCallout">
            <a:avLst>
              <a:gd name="adj1" fmla="val 37924"/>
              <a:gd name="adj2" fmla="val 80518"/>
              <a:gd name="adj3" fmla="val 16667"/>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とりあえず探索してみよう</a:t>
            </a:r>
            <a:r>
              <a:rPr kumimoji="1" lang="en-US" altLang="ja-JP" dirty="0">
                <a:solidFill>
                  <a:schemeClr val="bg1"/>
                </a:solidFill>
              </a:rPr>
              <a:t>…</a:t>
            </a:r>
            <a:endParaRPr kumimoji="1" lang="ja-JP" altLang="en-US" dirty="0">
              <a:solidFill>
                <a:schemeClr val="bg1"/>
              </a:solidFill>
            </a:endParaRPr>
          </a:p>
        </p:txBody>
      </p:sp>
      <p:sp>
        <p:nvSpPr>
          <p:cNvPr id="19" name="角丸四角形吹き出し 18"/>
          <p:cNvSpPr/>
          <p:nvPr/>
        </p:nvSpPr>
        <p:spPr>
          <a:xfrm>
            <a:off x="5464617" y="1380328"/>
            <a:ext cx="2485643" cy="411993"/>
          </a:xfrm>
          <a:prstGeom prst="wedgeRoundRectCallout">
            <a:avLst>
              <a:gd name="adj1" fmla="val -26991"/>
              <a:gd name="adj2" fmla="val 82037"/>
              <a:gd name="adj3" fmla="val 16667"/>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ステージに乗ると</a:t>
            </a:r>
            <a:r>
              <a:rPr kumimoji="1" lang="en-US" altLang="ja-JP" dirty="0">
                <a:solidFill>
                  <a:schemeClr val="bg1"/>
                </a:solidFill>
              </a:rPr>
              <a:t>…</a:t>
            </a:r>
            <a:r>
              <a:rPr kumimoji="1" lang="ja-JP" altLang="en-US" dirty="0">
                <a:solidFill>
                  <a:schemeClr val="bg1"/>
                </a:solidFill>
              </a:rPr>
              <a:t>？</a:t>
            </a:r>
          </a:p>
        </p:txBody>
      </p:sp>
      <p:sp>
        <p:nvSpPr>
          <p:cNvPr id="20" name="角丸四角形吹き出し 19"/>
          <p:cNvSpPr/>
          <p:nvPr/>
        </p:nvSpPr>
        <p:spPr>
          <a:xfrm>
            <a:off x="2017598" y="1359338"/>
            <a:ext cx="1820609" cy="480141"/>
          </a:xfrm>
          <a:prstGeom prst="wedgeRoundRectCallout">
            <a:avLst>
              <a:gd name="adj1" fmla="val -26991"/>
              <a:gd name="adj2" fmla="val 82037"/>
              <a:gd name="adj3" fmla="val 16667"/>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目覚めた主人公</a:t>
            </a:r>
          </a:p>
        </p:txBody>
      </p:sp>
      <p:sp>
        <p:nvSpPr>
          <p:cNvPr id="21" name="タイトル 1"/>
          <p:cNvSpPr txBox="1">
            <a:spLocks/>
          </p:cNvSpPr>
          <p:nvPr/>
        </p:nvSpPr>
        <p:spPr>
          <a:xfrm>
            <a:off x="3742133" y="5850191"/>
            <a:ext cx="8974931"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kumimoji="1"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t>自身と同じ姿の敵に遭遇</a:t>
            </a:r>
            <a:r>
              <a:rPr lang="en-US" altLang="ja-JP" dirty="0"/>
              <a:t>…</a:t>
            </a:r>
            <a:r>
              <a:rPr lang="ja-JP" altLang="en-US" dirty="0"/>
              <a:t>！</a:t>
            </a:r>
          </a:p>
        </p:txBody>
      </p:sp>
    </p:spTree>
    <p:extLst>
      <p:ext uri="{BB962C8B-B14F-4D97-AF65-F5344CB8AC3E}">
        <p14:creationId xmlns:p14="http://schemas.microsoft.com/office/powerpoint/2010/main" val="1231486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13795" y="437322"/>
            <a:ext cx="10353762" cy="970450"/>
          </a:xfrm>
        </p:spPr>
        <p:txBody>
          <a:bodyPr/>
          <a:lstStyle/>
          <a:p>
            <a:r>
              <a:rPr kumimoji="1" lang="ja-JP" altLang="en-US" dirty="0"/>
              <a:t>敵の攻撃をパリィで弾き返そう！</a:t>
            </a:r>
          </a:p>
        </p:txBody>
      </p:sp>
      <p:pic>
        <p:nvPicPr>
          <p:cNvPr id="6" name="コンテンツ プレースホルダー 5"/>
          <p:cNvPicPr>
            <a:picLocks noGrp="1" noChangeAspect="1"/>
          </p:cNvPicPr>
          <p:nvPr>
            <p:ph sz="half" idx="1"/>
          </p:nvPr>
        </p:nvPicPr>
        <p:blipFill rotWithShape="1">
          <a:blip r:embed="rId2" cstate="print">
            <a:extLst>
              <a:ext uri="{28A0092B-C50C-407E-A947-70E740481C1C}">
                <a14:useLocalDpi xmlns:a14="http://schemas.microsoft.com/office/drawing/2010/main" val="0"/>
              </a:ext>
            </a:extLst>
          </a:blip>
          <a:srcRect t="4374" r="6671"/>
          <a:stretch/>
        </p:blipFill>
        <p:spPr>
          <a:xfrm>
            <a:off x="6934015" y="1895961"/>
            <a:ext cx="4777339" cy="2753385"/>
          </a:xfrm>
        </p:spPr>
      </p:pic>
      <p:pic>
        <p:nvPicPr>
          <p:cNvPr id="5" name="図 4"/>
          <p:cNvPicPr>
            <a:picLocks noChangeAspect="1"/>
          </p:cNvPicPr>
          <p:nvPr/>
        </p:nvPicPr>
        <p:blipFill rotWithShape="1">
          <a:blip r:embed="rId3" cstate="print">
            <a:extLst>
              <a:ext uri="{28A0092B-C50C-407E-A947-70E740481C1C}">
                <a14:useLocalDpi xmlns:a14="http://schemas.microsoft.com/office/drawing/2010/main" val="0"/>
              </a:ext>
            </a:extLst>
          </a:blip>
          <a:srcRect t="4203" r="6869"/>
          <a:stretch/>
        </p:blipFill>
        <p:spPr>
          <a:xfrm>
            <a:off x="377431" y="1895961"/>
            <a:ext cx="4758705" cy="2753385"/>
          </a:xfrm>
          <a:prstGeom prst="rect">
            <a:avLst/>
          </a:prstGeom>
        </p:spPr>
      </p:pic>
      <p:sp>
        <p:nvSpPr>
          <p:cNvPr id="7" name="右矢印 6"/>
          <p:cNvSpPr/>
          <p:nvPr/>
        </p:nvSpPr>
        <p:spPr>
          <a:xfrm>
            <a:off x="5212994" y="2331876"/>
            <a:ext cx="1644162" cy="1881554"/>
          </a:xfrm>
          <a:prstGeom prst="rightArrow">
            <a:avLst/>
          </a:prstGeom>
          <a:solidFill>
            <a:srgbClr val="007DD2"/>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t>パリィ</a:t>
            </a:r>
            <a:r>
              <a:rPr kumimoji="1" lang="en-US" altLang="ja-JP" sz="2400" dirty="0"/>
              <a:t>!</a:t>
            </a:r>
            <a:endParaRPr kumimoji="1" lang="ja-JP" altLang="en-US" sz="2400" dirty="0"/>
          </a:p>
        </p:txBody>
      </p:sp>
      <p:sp>
        <p:nvSpPr>
          <p:cNvPr id="8" name="円形吹き出し 7"/>
          <p:cNvSpPr/>
          <p:nvPr/>
        </p:nvSpPr>
        <p:spPr>
          <a:xfrm>
            <a:off x="913795" y="2333790"/>
            <a:ext cx="1635975" cy="710262"/>
          </a:xfrm>
          <a:prstGeom prst="wedgeEllipseCallout">
            <a:avLst>
              <a:gd name="adj1" fmla="val 35523"/>
              <a:gd name="adj2" fmla="val 71224"/>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攻撃だ！</a:t>
            </a:r>
          </a:p>
        </p:txBody>
      </p:sp>
      <p:sp>
        <p:nvSpPr>
          <p:cNvPr id="9" name="円形吹き出し 8"/>
          <p:cNvSpPr/>
          <p:nvPr/>
        </p:nvSpPr>
        <p:spPr>
          <a:xfrm>
            <a:off x="7563709" y="1627229"/>
            <a:ext cx="2538652" cy="710262"/>
          </a:xfrm>
          <a:prstGeom prst="wedgeEllipseCallout">
            <a:avLst>
              <a:gd name="adj1" fmla="val 38640"/>
              <a:gd name="adj2" fmla="val 73700"/>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敵にダメージ！</a:t>
            </a:r>
          </a:p>
        </p:txBody>
      </p:sp>
      <p:sp>
        <p:nvSpPr>
          <p:cNvPr id="10" name="タイトル 1"/>
          <p:cNvSpPr txBox="1">
            <a:spLocks/>
          </p:cNvSpPr>
          <p:nvPr/>
        </p:nvSpPr>
        <p:spPr>
          <a:xfrm>
            <a:off x="1132306" y="5134737"/>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kumimoji="1"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t>攻撃を弾き返し、敵を倒そう！</a:t>
            </a:r>
          </a:p>
        </p:txBody>
      </p:sp>
    </p:spTree>
    <p:extLst>
      <p:ext uri="{BB962C8B-B14F-4D97-AF65-F5344CB8AC3E}">
        <p14:creationId xmlns:p14="http://schemas.microsoft.com/office/powerpoint/2010/main" val="28568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p:cNvSpPr txBox="1">
            <a:spLocks/>
          </p:cNvSpPr>
          <p:nvPr/>
        </p:nvSpPr>
        <p:spPr>
          <a:xfrm>
            <a:off x="1132306" y="430215"/>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fontScale="85000" lnSpcReduction="10000"/>
          </a:bodyPr>
          <a:lstStyle>
            <a:lvl1pPr algn="ctr" defTabSz="457200" rtl="0" eaLnBrk="1" latinLnBrk="0" hangingPunct="1">
              <a:spcBef>
                <a:spcPct val="0"/>
              </a:spcBef>
              <a:buNone/>
              <a:defRPr kumimoji="1"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t>パリィに成功すると大ダメージを与えるチャンス到来！</a:t>
            </a:r>
          </a:p>
        </p:txBody>
      </p:sp>
      <p:pic>
        <p:nvPicPr>
          <p:cNvPr id="6" name="図 5"/>
          <p:cNvPicPr>
            <a:picLocks noChangeAspect="1"/>
          </p:cNvPicPr>
          <p:nvPr/>
        </p:nvPicPr>
        <p:blipFill rotWithShape="1">
          <a:blip r:embed="rId2" cstate="print">
            <a:extLst>
              <a:ext uri="{28A0092B-C50C-407E-A947-70E740481C1C}">
                <a14:useLocalDpi xmlns:a14="http://schemas.microsoft.com/office/drawing/2010/main" val="0"/>
              </a:ext>
            </a:extLst>
          </a:blip>
          <a:srcRect t="4251" r="6195"/>
          <a:stretch/>
        </p:blipFill>
        <p:spPr>
          <a:xfrm>
            <a:off x="181857" y="1907930"/>
            <a:ext cx="4766886" cy="2736955"/>
          </a:xfrm>
          <a:prstGeom prst="rect">
            <a:avLst/>
          </a:prstGeom>
        </p:spPr>
      </p:pic>
      <p:pic>
        <p:nvPicPr>
          <p:cNvPr id="7" name="図 6"/>
          <p:cNvPicPr>
            <a:picLocks noChangeAspect="1"/>
          </p:cNvPicPr>
          <p:nvPr/>
        </p:nvPicPr>
        <p:blipFill rotWithShape="1">
          <a:blip r:embed="rId3" cstate="print">
            <a:extLst>
              <a:ext uri="{28A0092B-C50C-407E-A947-70E740481C1C}">
                <a14:useLocalDpi xmlns:a14="http://schemas.microsoft.com/office/drawing/2010/main" val="0"/>
              </a:ext>
            </a:extLst>
          </a:blip>
          <a:srcRect t="4058" r="6304"/>
          <a:stretch/>
        </p:blipFill>
        <p:spPr>
          <a:xfrm>
            <a:off x="7195929" y="1907931"/>
            <a:ext cx="4832255" cy="2848956"/>
          </a:xfrm>
          <a:prstGeom prst="rect">
            <a:avLst/>
          </a:prstGeom>
        </p:spPr>
      </p:pic>
      <p:sp>
        <p:nvSpPr>
          <p:cNvPr id="8" name="右矢印 7"/>
          <p:cNvSpPr/>
          <p:nvPr/>
        </p:nvSpPr>
        <p:spPr>
          <a:xfrm>
            <a:off x="4948743" y="1907931"/>
            <a:ext cx="2247186" cy="2736955"/>
          </a:xfrm>
          <a:prstGeom prst="rightArrow">
            <a:avLst/>
          </a:prstGeom>
          <a:solidFill>
            <a:srgbClr val="007DD2"/>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t>背中から致命攻撃！</a:t>
            </a:r>
          </a:p>
        </p:txBody>
      </p:sp>
      <p:sp>
        <p:nvSpPr>
          <p:cNvPr id="9" name="円形吹き出し 8"/>
          <p:cNvSpPr/>
          <p:nvPr/>
        </p:nvSpPr>
        <p:spPr>
          <a:xfrm>
            <a:off x="500555" y="2186388"/>
            <a:ext cx="1829405" cy="710262"/>
          </a:xfrm>
          <a:prstGeom prst="wedgeEllipseCallout">
            <a:avLst>
              <a:gd name="adj1" fmla="val 35523"/>
              <a:gd name="adj2" fmla="val 71224"/>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ダウン中</a:t>
            </a:r>
            <a:r>
              <a:rPr kumimoji="1" lang="en-US" altLang="ja-JP" dirty="0">
                <a:solidFill>
                  <a:schemeClr val="bg1"/>
                </a:solidFill>
              </a:rPr>
              <a:t>…</a:t>
            </a:r>
            <a:endParaRPr kumimoji="1" lang="ja-JP" altLang="en-US" dirty="0">
              <a:solidFill>
                <a:schemeClr val="bg1"/>
              </a:solidFill>
            </a:endParaRPr>
          </a:p>
        </p:txBody>
      </p:sp>
      <p:sp>
        <p:nvSpPr>
          <p:cNvPr id="11" name="爆発 2 10"/>
          <p:cNvSpPr/>
          <p:nvPr/>
        </p:nvSpPr>
        <p:spPr>
          <a:xfrm>
            <a:off x="7394331" y="1907931"/>
            <a:ext cx="3481754" cy="1590134"/>
          </a:xfrm>
          <a:prstGeom prst="irregularSeal2">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ln>
                  <a:solidFill>
                    <a:schemeClr val="bg1"/>
                  </a:solidFill>
                </a:ln>
                <a:solidFill>
                  <a:schemeClr val="bg1"/>
                </a:solidFill>
              </a:rPr>
              <a:t>大ダメージ！</a:t>
            </a:r>
          </a:p>
        </p:txBody>
      </p:sp>
      <p:sp>
        <p:nvSpPr>
          <p:cNvPr id="13" name="タイトル 1"/>
          <p:cNvSpPr txBox="1">
            <a:spLocks/>
          </p:cNvSpPr>
          <p:nvPr/>
        </p:nvSpPr>
        <p:spPr>
          <a:xfrm>
            <a:off x="1132306" y="554261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kumimoji="1"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dirty="0"/>
              <a:t>うまく利用して敵を撃破しよう！</a:t>
            </a:r>
          </a:p>
        </p:txBody>
      </p:sp>
    </p:spTree>
    <p:extLst>
      <p:ext uri="{BB962C8B-B14F-4D97-AF65-F5344CB8AC3E}">
        <p14:creationId xmlns:p14="http://schemas.microsoft.com/office/powerpoint/2010/main" val="2554263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p:cNvSpPr>
            <a:spLocks noGrp="1"/>
          </p:cNvSpPr>
          <p:nvPr>
            <p:ph type="body" sz="half" idx="2"/>
          </p:nvPr>
        </p:nvSpPr>
        <p:spPr>
          <a:xfrm>
            <a:off x="7712894" y="1100591"/>
            <a:ext cx="3878561" cy="1278141"/>
          </a:xfrm>
        </p:spPr>
        <p:txBody>
          <a:bodyPr>
            <a:normAutofit/>
          </a:bodyPr>
          <a:lstStyle/>
          <a:p>
            <a:r>
              <a:rPr kumimoji="1" lang="ja-JP" altLang="en-US" sz="2800" b="1" dirty="0">
                <a:solidFill>
                  <a:srgbClr val="007DD2"/>
                </a:solidFill>
              </a:rPr>
              <a:t>パリィゲージ</a:t>
            </a:r>
            <a:endParaRPr kumimoji="1" lang="en-US" altLang="ja-JP" sz="2800" b="1" dirty="0">
              <a:solidFill>
                <a:srgbClr val="007DD2"/>
              </a:solidFill>
            </a:endParaRPr>
          </a:p>
          <a:p>
            <a:r>
              <a:rPr kumimoji="1" lang="ja-JP" altLang="en-US" sz="2000" dirty="0"/>
              <a:t>パリィはクールダウンがあるので慎重に使おう！</a:t>
            </a:r>
          </a:p>
        </p:txBody>
      </p:sp>
      <p:pic>
        <p:nvPicPr>
          <p:cNvPr id="5" name="コンテンツ プレースホルダー 4"/>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t="4203" r="6869"/>
          <a:stretch/>
        </p:blipFill>
        <p:spPr>
          <a:xfrm>
            <a:off x="390181" y="1047252"/>
            <a:ext cx="6411912" cy="3709947"/>
          </a:xfrm>
          <a:prstGeom prst="rect">
            <a:avLst/>
          </a:prstGeom>
        </p:spPr>
      </p:pic>
      <p:sp>
        <p:nvSpPr>
          <p:cNvPr id="6" name="タイトル 1"/>
          <p:cNvSpPr txBox="1">
            <a:spLocks/>
          </p:cNvSpPr>
          <p:nvPr/>
        </p:nvSpPr>
        <p:spPr>
          <a:xfrm>
            <a:off x="2802076" y="0"/>
            <a:ext cx="6411912" cy="875304"/>
          </a:xfrm>
          <a:prstGeom prst="rect">
            <a:avLst/>
          </a:prstGeom>
          <a:effectLst>
            <a:outerShdw blurRad="25400" dir="17880000">
              <a:srgbClr val="000000">
                <a:alpha val="46000"/>
              </a:srgbClr>
            </a:outerShdw>
          </a:effectLst>
        </p:spPr>
        <p:txBody>
          <a:bodyPr vert="horz" lIns="91440" tIns="45720" rIns="91440" bIns="45720" rtlCol="0" anchor="b">
            <a:normAutofit/>
          </a:bodyPr>
          <a:lstStyle>
            <a:lvl1pPr algn="ctr" defTabSz="457200" rtl="0" eaLnBrk="1" latinLnBrk="0" hangingPunct="1">
              <a:spcBef>
                <a:spcPct val="0"/>
              </a:spcBef>
              <a:buNone/>
              <a:defRPr kumimoji="1"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sz="3600" dirty="0"/>
              <a:t>プレイ画面とゲームルール</a:t>
            </a:r>
          </a:p>
        </p:txBody>
      </p:sp>
      <p:sp>
        <p:nvSpPr>
          <p:cNvPr id="7" name="タイトル 1"/>
          <p:cNvSpPr txBox="1">
            <a:spLocks/>
          </p:cNvSpPr>
          <p:nvPr/>
        </p:nvSpPr>
        <p:spPr>
          <a:xfrm>
            <a:off x="390181" y="4757199"/>
            <a:ext cx="11536776" cy="1755861"/>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kumimoji="1"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sz="3600" dirty="0"/>
              <a:t>プレイヤーの</a:t>
            </a:r>
            <a:r>
              <a:rPr lang="en-US" altLang="ja-JP" sz="3600" dirty="0"/>
              <a:t>HP</a:t>
            </a:r>
            <a:r>
              <a:rPr lang="ja-JP" altLang="en-US" sz="3600" dirty="0"/>
              <a:t>が０になるとゲームオーバー</a:t>
            </a:r>
            <a:endParaRPr lang="en-US" altLang="ja-JP" sz="3600" dirty="0"/>
          </a:p>
          <a:p>
            <a:r>
              <a:rPr lang="ja-JP" altLang="en-US" sz="3600" dirty="0"/>
              <a:t>敵の</a:t>
            </a:r>
            <a:r>
              <a:rPr lang="en-US" altLang="ja-JP" sz="3600" dirty="0"/>
              <a:t>HP</a:t>
            </a:r>
            <a:r>
              <a:rPr lang="ja-JP" altLang="en-US" sz="3600" dirty="0"/>
              <a:t>を０にするとゲームクリア！</a:t>
            </a:r>
          </a:p>
        </p:txBody>
      </p:sp>
      <p:sp>
        <p:nvSpPr>
          <p:cNvPr id="8" name="四角形吹き出し 7"/>
          <p:cNvSpPr/>
          <p:nvPr/>
        </p:nvSpPr>
        <p:spPr>
          <a:xfrm>
            <a:off x="496707" y="1364246"/>
            <a:ext cx="1393639" cy="561269"/>
          </a:xfrm>
          <a:prstGeom prst="wedgeRectCallout">
            <a:avLst>
              <a:gd name="adj1" fmla="val -23178"/>
              <a:gd name="adj2" fmla="val -65970"/>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パリィゲージ</a:t>
            </a:r>
          </a:p>
        </p:txBody>
      </p:sp>
      <p:sp>
        <p:nvSpPr>
          <p:cNvPr id="9" name="四角形吹き出し 8"/>
          <p:cNvSpPr/>
          <p:nvPr/>
        </p:nvSpPr>
        <p:spPr>
          <a:xfrm>
            <a:off x="2477203" y="1083611"/>
            <a:ext cx="1716024" cy="561269"/>
          </a:xfrm>
          <a:prstGeom prst="wedgeRectCallout">
            <a:avLst>
              <a:gd name="adj1" fmla="val -65074"/>
              <a:gd name="adj2" fmla="val -42471"/>
            </a:avLst>
          </a:prstGeom>
          <a:solidFill>
            <a:schemeClr val="tx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プレイヤーの</a:t>
            </a:r>
            <a:r>
              <a:rPr kumimoji="1" lang="en-US" altLang="ja-JP" dirty="0">
                <a:solidFill>
                  <a:schemeClr val="bg1"/>
                </a:solidFill>
              </a:rPr>
              <a:t>HP</a:t>
            </a:r>
            <a:endParaRPr kumimoji="1" lang="ja-JP" altLang="en-US" dirty="0">
              <a:solidFill>
                <a:schemeClr val="bg1"/>
              </a:solidFill>
            </a:endParaRPr>
          </a:p>
        </p:txBody>
      </p:sp>
      <p:sp>
        <p:nvSpPr>
          <p:cNvPr id="10" name="四角形吹き出し 9"/>
          <p:cNvSpPr/>
          <p:nvPr/>
        </p:nvSpPr>
        <p:spPr>
          <a:xfrm>
            <a:off x="5086069" y="4195930"/>
            <a:ext cx="1716024" cy="561269"/>
          </a:xfrm>
          <a:prstGeom prst="wedgeRectCallout">
            <a:avLst>
              <a:gd name="adj1" fmla="val -66611"/>
              <a:gd name="adj2" fmla="val 20189"/>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敵の</a:t>
            </a:r>
            <a:r>
              <a:rPr kumimoji="1" lang="en-US" altLang="ja-JP" dirty="0">
                <a:solidFill>
                  <a:schemeClr val="bg1"/>
                </a:solidFill>
              </a:rPr>
              <a:t>HP</a:t>
            </a:r>
            <a:endParaRPr kumimoji="1" lang="ja-JP" altLang="en-US" dirty="0">
              <a:solidFill>
                <a:schemeClr val="bg1"/>
              </a:solidFill>
            </a:endParaRPr>
          </a:p>
        </p:txBody>
      </p:sp>
      <p:sp>
        <p:nvSpPr>
          <p:cNvPr id="12" name="テキスト プレースホルダー 3"/>
          <p:cNvSpPr txBox="1">
            <a:spLocks/>
          </p:cNvSpPr>
          <p:nvPr/>
        </p:nvSpPr>
        <p:spPr>
          <a:xfrm>
            <a:off x="7777371" y="3067917"/>
            <a:ext cx="3878561" cy="1278141"/>
          </a:xfrm>
          <a:prstGeom prst="rect">
            <a:avLst/>
          </a:prstGeom>
          <a:effectLst>
            <a:outerShdw blurRad="25400" dir="17880000">
              <a:srgbClr val="000000">
                <a:alpha val="46000"/>
              </a:srgbClr>
            </a:outerShdw>
          </a:effectLst>
        </p:spPr>
        <p:txBody>
          <a:bodyPr vert="horz" lIns="91440" tIns="45720" rIns="91440" bIns="45720" rtlCol="0" anchor="t">
            <a:normAutofit fontScale="92500" lnSpcReduction="10000"/>
          </a:bodyPr>
          <a:lstStyle>
            <a:lvl1pPr marL="0" indent="0" algn="ctr" defTabSz="457200" rtl="0" eaLnBrk="1" latinLnBrk="0" hangingPunct="1">
              <a:spcBef>
                <a:spcPct val="20000"/>
              </a:spcBef>
              <a:spcAft>
                <a:spcPts val="600"/>
              </a:spcAft>
              <a:buClr>
                <a:schemeClr val="tx2"/>
              </a:buClr>
              <a:buSzPct val="70000"/>
              <a:buFont typeface="Wingdings 2" charset="2"/>
              <a:buNone/>
              <a:defRPr kumimoji="1"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tx2"/>
              </a:buClr>
              <a:buSzPct val="70000"/>
              <a:buFont typeface="Wingdings 2" charset="2"/>
              <a:buNone/>
              <a:defRPr kumimoji="1" sz="1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tx2"/>
              </a:buClr>
              <a:buSzPct val="70000"/>
              <a:buFont typeface="Wingdings 2" charset="2"/>
              <a:buNone/>
              <a:defRPr kumimoji="1" sz="1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tx2"/>
              </a:buClr>
              <a:buSzPct val="70000"/>
              <a:buFont typeface="Wingdings 2" charset="2"/>
              <a:buNone/>
              <a:defRPr kumimoji="1"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tx2"/>
              </a:buClr>
              <a:buSzPct val="70000"/>
              <a:buFont typeface="Wingdings 2" charset="2"/>
              <a:buNone/>
              <a:defRPr kumimoji="1"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tx2"/>
              </a:buClr>
              <a:buSzPct val="70000"/>
              <a:buFont typeface="Wingdings 2" charset="2"/>
              <a:buNone/>
              <a:defRPr kumimoji="1"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743200" indent="0" algn="l" defTabSz="457200" rtl="0" eaLnBrk="1" latinLnBrk="0" hangingPunct="1">
              <a:spcBef>
                <a:spcPct val="20000"/>
              </a:spcBef>
              <a:spcAft>
                <a:spcPts val="600"/>
              </a:spcAft>
              <a:buClr>
                <a:schemeClr val="tx2"/>
              </a:buClr>
              <a:buSzPct val="70000"/>
              <a:buFont typeface="Wingdings 2" charset="2"/>
              <a:buNone/>
              <a:defRPr kumimoji="1"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3200400" indent="0" algn="l" defTabSz="457200" rtl="0" eaLnBrk="1" latinLnBrk="0" hangingPunct="1">
              <a:spcBef>
                <a:spcPct val="20000"/>
              </a:spcBef>
              <a:spcAft>
                <a:spcPts val="600"/>
              </a:spcAft>
              <a:buClr>
                <a:schemeClr val="tx2"/>
              </a:buClr>
              <a:buSzPct val="70000"/>
              <a:buFont typeface="Wingdings 2" charset="2"/>
              <a:buNone/>
              <a:defRPr kumimoji="1"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657600" indent="0" algn="l" defTabSz="457200" rtl="0" eaLnBrk="1" latinLnBrk="0" hangingPunct="1">
              <a:spcBef>
                <a:spcPct val="20000"/>
              </a:spcBef>
              <a:spcAft>
                <a:spcPts val="600"/>
              </a:spcAft>
              <a:buClr>
                <a:schemeClr val="tx2"/>
              </a:buClr>
              <a:buSzPct val="70000"/>
              <a:buFont typeface="Wingdings 2" charset="2"/>
              <a:buNone/>
              <a:defRPr kumimoji="1"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ja-JP" altLang="en-US" sz="2000" dirty="0"/>
              <a:t>パリィの他にも回避やジャンプができるので上手く使って敵を倒そう！</a:t>
            </a:r>
            <a:endParaRPr lang="en-US" altLang="ja-JP" sz="2000" dirty="0"/>
          </a:p>
          <a:p>
            <a:r>
              <a:rPr lang="ja-JP" altLang="en-US" sz="2000" dirty="0"/>
              <a:t>敵の</a:t>
            </a:r>
            <a:r>
              <a:rPr lang="en-US" altLang="ja-JP" sz="2000" dirty="0"/>
              <a:t>HP</a:t>
            </a:r>
            <a:r>
              <a:rPr lang="ja-JP" altLang="en-US" sz="2000" dirty="0"/>
              <a:t>が半分以下になると強力な攻撃をしかけてくるぞ！</a:t>
            </a:r>
            <a:endParaRPr lang="en-US" altLang="ja-JP" sz="2000" dirty="0"/>
          </a:p>
        </p:txBody>
      </p:sp>
    </p:spTree>
    <p:extLst>
      <p:ext uri="{BB962C8B-B14F-4D97-AF65-F5344CB8AC3E}">
        <p14:creationId xmlns:p14="http://schemas.microsoft.com/office/powerpoint/2010/main" val="2437358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84DB8-94AB-71FF-4749-FB82AF758B93}"/>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BEEF74FB-40CF-5E4B-91D7-58FB52BADAC3}"/>
              </a:ext>
            </a:extLst>
          </p:cNvPr>
          <p:cNvSpPr txBox="1">
            <a:spLocks/>
          </p:cNvSpPr>
          <p:nvPr/>
        </p:nvSpPr>
        <p:spPr>
          <a:xfrm>
            <a:off x="390181" y="2458842"/>
            <a:ext cx="11536776" cy="1755861"/>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kumimoji="1"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sz="4400" dirty="0"/>
              <a:t>絶賛開発</a:t>
            </a:r>
            <a:r>
              <a:rPr lang="en-US" altLang="ja-JP" sz="4400" dirty="0"/>
              <a:t>&amp;</a:t>
            </a:r>
            <a:r>
              <a:rPr lang="ja-JP" altLang="en-US" sz="4400" dirty="0"/>
              <a:t>ブラッシュアップ中！</a:t>
            </a:r>
          </a:p>
        </p:txBody>
      </p:sp>
    </p:spTree>
    <p:extLst>
      <p:ext uri="{BB962C8B-B14F-4D97-AF65-F5344CB8AC3E}">
        <p14:creationId xmlns:p14="http://schemas.microsoft.com/office/powerpoint/2010/main" val="186814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p:cNvSpPr txBox="1">
            <a:spLocks/>
          </p:cNvSpPr>
          <p:nvPr/>
        </p:nvSpPr>
        <p:spPr>
          <a:xfrm>
            <a:off x="2802076" y="0"/>
            <a:ext cx="6411912" cy="875304"/>
          </a:xfrm>
          <a:prstGeom prst="rect">
            <a:avLst/>
          </a:prstGeom>
          <a:effectLst>
            <a:outerShdw blurRad="25400" dir="17880000">
              <a:srgbClr val="000000">
                <a:alpha val="46000"/>
              </a:srgbClr>
            </a:outerShdw>
          </a:effectLst>
        </p:spPr>
        <p:txBody>
          <a:bodyPr vert="horz" lIns="91440" tIns="45720" rIns="91440" bIns="45720" rtlCol="0" anchor="b">
            <a:normAutofit/>
          </a:bodyPr>
          <a:lstStyle>
            <a:lvl1pPr algn="ctr" defTabSz="457200" rtl="0" eaLnBrk="1" latinLnBrk="0" hangingPunct="1">
              <a:spcBef>
                <a:spcPct val="0"/>
              </a:spcBef>
              <a:buNone/>
              <a:defRPr kumimoji="1" sz="2400" b="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a:lstStyle>
          <a:p>
            <a:r>
              <a:rPr lang="ja-JP" altLang="en-US" sz="3600" dirty="0"/>
              <a:t>操作方法</a:t>
            </a:r>
          </a:p>
        </p:txBody>
      </p:sp>
      <p:sp>
        <p:nvSpPr>
          <p:cNvPr id="6" name="正方形/長方形 5"/>
          <p:cNvSpPr/>
          <p:nvPr/>
        </p:nvSpPr>
        <p:spPr>
          <a:xfrm>
            <a:off x="329184" y="875304"/>
            <a:ext cx="5193792" cy="5718048"/>
          </a:xfrm>
          <a:prstGeom prst="rect">
            <a:avLst/>
          </a:prstGeom>
          <a:noFill/>
          <a:ln w="38100">
            <a:solidFill>
              <a:srgbClr val="00B0F0"/>
            </a:solidFill>
          </a:ln>
        </p:spPr>
        <p:style>
          <a:lnRef idx="2">
            <a:schemeClr val="accent6"/>
          </a:lnRef>
          <a:fillRef idx="1">
            <a:schemeClr val="lt1"/>
          </a:fillRef>
          <a:effectRef idx="0">
            <a:schemeClr val="accent6"/>
          </a:effectRef>
          <a:fontRef idx="minor">
            <a:schemeClr val="dk1"/>
          </a:fontRef>
        </p:style>
        <p:txBody>
          <a:bodyPr rtlCol="0" anchor="t"/>
          <a:lstStyle/>
          <a:p>
            <a:pPr algn="ctr"/>
            <a:r>
              <a:rPr kumimoji="1" lang="ja-JP" altLang="en-US" sz="4000" dirty="0">
                <a:solidFill>
                  <a:schemeClr val="tx1"/>
                </a:solidFill>
              </a:rPr>
              <a:t>キーボード</a:t>
            </a:r>
            <a:endParaRPr kumimoji="1" lang="en-US" altLang="ja-JP" sz="2400" dirty="0">
              <a:solidFill>
                <a:schemeClr val="tx1"/>
              </a:solidFill>
            </a:endParaRPr>
          </a:p>
          <a:p>
            <a:pPr marL="342900" indent="-342900">
              <a:lnSpc>
                <a:spcPct val="150000"/>
              </a:lnSpc>
              <a:buFont typeface="Wingdings" panose="05000000000000000000" pitchFamily="2" charset="2"/>
              <a:buChar char="u"/>
            </a:pPr>
            <a:r>
              <a:rPr kumimoji="1" lang="ja-JP" altLang="en-US" sz="2400" dirty="0">
                <a:solidFill>
                  <a:schemeClr val="tx1"/>
                </a:solidFill>
              </a:rPr>
              <a:t>パリィ：</a:t>
            </a:r>
            <a:r>
              <a:rPr kumimoji="1" lang="en-US" altLang="ja-JP" sz="2400" dirty="0">
                <a:solidFill>
                  <a:schemeClr val="tx1"/>
                </a:solidFill>
              </a:rPr>
              <a:t>Space</a:t>
            </a:r>
            <a:r>
              <a:rPr kumimoji="1" lang="ja-JP" altLang="en-US" sz="2400" dirty="0">
                <a:solidFill>
                  <a:schemeClr val="tx1"/>
                </a:solidFill>
              </a:rPr>
              <a:t>キー</a:t>
            </a:r>
            <a:endParaRPr kumimoji="1" lang="en-US" altLang="ja-JP" sz="2400" dirty="0">
              <a:solidFill>
                <a:schemeClr val="tx1"/>
              </a:solidFill>
            </a:endParaRPr>
          </a:p>
          <a:p>
            <a:pPr marL="342900" indent="-342900">
              <a:lnSpc>
                <a:spcPct val="150000"/>
              </a:lnSpc>
              <a:buFont typeface="Wingdings" panose="05000000000000000000" pitchFamily="2" charset="2"/>
              <a:buChar char="u"/>
            </a:pPr>
            <a:r>
              <a:rPr kumimoji="1" lang="ja-JP" altLang="en-US" sz="2400" dirty="0">
                <a:solidFill>
                  <a:schemeClr val="tx1"/>
                </a:solidFill>
              </a:rPr>
              <a:t>致命攻撃：</a:t>
            </a:r>
            <a:r>
              <a:rPr kumimoji="1" lang="en-US" altLang="ja-JP" sz="2400" dirty="0">
                <a:solidFill>
                  <a:schemeClr val="tx1"/>
                </a:solidFill>
              </a:rPr>
              <a:t>Space</a:t>
            </a:r>
            <a:r>
              <a:rPr kumimoji="1" lang="ja-JP" altLang="en-US" sz="2400" dirty="0">
                <a:solidFill>
                  <a:schemeClr val="tx1"/>
                </a:solidFill>
              </a:rPr>
              <a:t>キー</a:t>
            </a:r>
            <a:endParaRPr kumimoji="1" lang="en-US" altLang="ja-JP" sz="2400" dirty="0">
              <a:solidFill>
                <a:schemeClr val="tx1"/>
              </a:solidFill>
            </a:endParaRPr>
          </a:p>
          <a:p>
            <a:pPr marL="342900" indent="-342900">
              <a:lnSpc>
                <a:spcPct val="150000"/>
              </a:lnSpc>
              <a:buFont typeface="Wingdings" panose="05000000000000000000" pitchFamily="2" charset="2"/>
              <a:buChar char="u"/>
            </a:pPr>
            <a:r>
              <a:rPr kumimoji="1" lang="ja-JP" altLang="en-US" sz="2400" dirty="0">
                <a:solidFill>
                  <a:schemeClr val="tx1"/>
                </a:solidFill>
              </a:rPr>
              <a:t>回避：左</a:t>
            </a:r>
            <a:r>
              <a:rPr kumimoji="1" lang="en-US" altLang="ja-JP" sz="2400" dirty="0">
                <a:solidFill>
                  <a:schemeClr val="tx1"/>
                </a:solidFill>
              </a:rPr>
              <a:t>Shift</a:t>
            </a:r>
            <a:r>
              <a:rPr kumimoji="1" lang="ja-JP" altLang="en-US" sz="2400" dirty="0">
                <a:solidFill>
                  <a:schemeClr val="tx1"/>
                </a:solidFill>
              </a:rPr>
              <a:t>キー</a:t>
            </a:r>
            <a:endParaRPr kumimoji="1" lang="en-US" altLang="ja-JP" sz="2400" dirty="0">
              <a:solidFill>
                <a:schemeClr val="tx1"/>
              </a:solidFill>
            </a:endParaRPr>
          </a:p>
          <a:p>
            <a:pPr marL="342900" indent="-342900">
              <a:lnSpc>
                <a:spcPct val="150000"/>
              </a:lnSpc>
              <a:buFont typeface="Wingdings" panose="05000000000000000000" pitchFamily="2" charset="2"/>
              <a:buChar char="u"/>
            </a:pPr>
            <a:r>
              <a:rPr kumimoji="1" lang="ja-JP" altLang="en-US" sz="2400" dirty="0">
                <a:solidFill>
                  <a:schemeClr val="tx1"/>
                </a:solidFill>
              </a:rPr>
              <a:t>移動：</a:t>
            </a:r>
            <a:r>
              <a:rPr kumimoji="1" lang="en-US" altLang="ja-JP" sz="2400" dirty="0">
                <a:solidFill>
                  <a:schemeClr val="tx1"/>
                </a:solidFill>
              </a:rPr>
              <a:t>W,A,S,D</a:t>
            </a:r>
            <a:r>
              <a:rPr kumimoji="1" lang="ja-JP" altLang="en-US" sz="2400" dirty="0">
                <a:solidFill>
                  <a:schemeClr val="tx1"/>
                </a:solidFill>
              </a:rPr>
              <a:t>キー</a:t>
            </a:r>
            <a:endParaRPr kumimoji="1" lang="en-US" altLang="ja-JP" sz="2400" dirty="0">
              <a:solidFill>
                <a:schemeClr val="tx1"/>
              </a:solidFill>
            </a:endParaRPr>
          </a:p>
          <a:p>
            <a:pPr marL="342900" indent="-342900">
              <a:lnSpc>
                <a:spcPct val="150000"/>
              </a:lnSpc>
              <a:buFont typeface="Wingdings" panose="05000000000000000000" pitchFamily="2" charset="2"/>
              <a:buChar char="u"/>
            </a:pPr>
            <a:r>
              <a:rPr kumimoji="1" lang="ja-JP" altLang="en-US" sz="2400" dirty="0">
                <a:solidFill>
                  <a:schemeClr val="tx1"/>
                </a:solidFill>
              </a:rPr>
              <a:t>ジャンプ：</a:t>
            </a:r>
            <a:r>
              <a:rPr kumimoji="1" lang="en-US" altLang="ja-JP" sz="2400" dirty="0">
                <a:solidFill>
                  <a:schemeClr val="tx1"/>
                </a:solidFill>
              </a:rPr>
              <a:t>E</a:t>
            </a:r>
            <a:r>
              <a:rPr kumimoji="1" lang="ja-JP" altLang="en-US" sz="2400" dirty="0">
                <a:solidFill>
                  <a:schemeClr val="tx1"/>
                </a:solidFill>
              </a:rPr>
              <a:t>キー</a:t>
            </a:r>
            <a:endParaRPr kumimoji="1" lang="en-US" altLang="ja-JP" sz="2400" dirty="0">
              <a:solidFill>
                <a:schemeClr val="tx1"/>
              </a:solidFill>
            </a:endParaRPr>
          </a:p>
          <a:p>
            <a:pPr marL="342900" indent="-342900">
              <a:lnSpc>
                <a:spcPct val="150000"/>
              </a:lnSpc>
              <a:buFont typeface="Wingdings" panose="05000000000000000000" pitchFamily="2" charset="2"/>
              <a:buChar char="u"/>
            </a:pPr>
            <a:r>
              <a:rPr kumimoji="1" lang="ja-JP" altLang="en-US" sz="2400" dirty="0">
                <a:solidFill>
                  <a:schemeClr val="tx1"/>
                </a:solidFill>
              </a:rPr>
              <a:t>カメラ操作：↑</a:t>
            </a:r>
            <a:r>
              <a:rPr kumimoji="1" lang="en-US" altLang="ja-JP" sz="2400" dirty="0">
                <a:solidFill>
                  <a:schemeClr val="tx1"/>
                </a:solidFill>
              </a:rPr>
              <a:t>,</a:t>
            </a:r>
            <a:r>
              <a:rPr kumimoji="1" lang="ja-JP" altLang="en-US" sz="2400" dirty="0">
                <a:solidFill>
                  <a:schemeClr val="tx1"/>
                </a:solidFill>
              </a:rPr>
              <a:t>←</a:t>
            </a:r>
            <a:r>
              <a:rPr kumimoji="1" lang="en-US" altLang="ja-JP" sz="2400" dirty="0">
                <a:solidFill>
                  <a:schemeClr val="tx1"/>
                </a:solidFill>
              </a:rPr>
              <a:t>,</a:t>
            </a:r>
            <a:r>
              <a:rPr kumimoji="1" lang="ja-JP" altLang="en-US" sz="2400" dirty="0">
                <a:solidFill>
                  <a:schemeClr val="tx1"/>
                </a:solidFill>
              </a:rPr>
              <a:t>↓</a:t>
            </a:r>
            <a:r>
              <a:rPr kumimoji="1" lang="en-US" altLang="ja-JP" sz="2400" dirty="0">
                <a:solidFill>
                  <a:schemeClr val="tx1"/>
                </a:solidFill>
              </a:rPr>
              <a:t>,</a:t>
            </a:r>
            <a:r>
              <a:rPr kumimoji="1" lang="ja-JP" altLang="en-US" sz="2400" dirty="0">
                <a:solidFill>
                  <a:schemeClr val="tx1"/>
                </a:solidFill>
              </a:rPr>
              <a:t>→キー</a:t>
            </a:r>
            <a:endParaRPr kumimoji="1" lang="en-US" altLang="ja-JP" sz="2400" dirty="0">
              <a:solidFill>
                <a:schemeClr val="tx1"/>
              </a:solidFill>
            </a:endParaRPr>
          </a:p>
          <a:p>
            <a:pPr algn="ctr"/>
            <a:endParaRPr kumimoji="1" lang="ja-JP" altLang="en-US" sz="2400" dirty="0">
              <a:solidFill>
                <a:schemeClr val="tx1"/>
              </a:solidFill>
            </a:endParaRPr>
          </a:p>
        </p:txBody>
      </p:sp>
      <p:sp>
        <p:nvSpPr>
          <p:cNvPr id="8" name="正方形/長方形 7"/>
          <p:cNvSpPr/>
          <p:nvPr/>
        </p:nvSpPr>
        <p:spPr>
          <a:xfrm>
            <a:off x="6493088" y="875304"/>
            <a:ext cx="5193792" cy="5718048"/>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t"/>
          <a:lstStyle/>
          <a:p>
            <a:pPr algn="ctr"/>
            <a:r>
              <a:rPr kumimoji="1" lang="ja-JP" altLang="en-US" sz="4000" dirty="0">
                <a:solidFill>
                  <a:schemeClr val="tx1"/>
                </a:solidFill>
              </a:rPr>
              <a:t>コントローラー</a:t>
            </a:r>
            <a:endParaRPr kumimoji="1" lang="en-US" altLang="ja-JP" sz="4000" dirty="0">
              <a:solidFill>
                <a:schemeClr val="tx1"/>
              </a:solidFill>
            </a:endParaRPr>
          </a:p>
        </p:txBody>
      </p:sp>
      <p:grpSp>
        <p:nvGrpSpPr>
          <p:cNvPr id="51" name="グループ化 50"/>
          <p:cNvGrpSpPr/>
          <p:nvPr/>
        </p:nvGrpSpPr>
        <p:grpSpPr>
          <a:xfrm>
            <a:off x="6493089" y="2186941"/>
            <a:ext cx="5092512" cy="3091180"/>
            <a:chOff x="7018333" y="2609797"/>
            <a:chExt cx="4567267" cy="2668323"/>
          </a:xfrm>
        </p:grpSpPr>
        <p:pic>
          <p:nvPicPr>
            <p:cNvPr id="7" name="図 6">
              <a:extLst>
                <a:ext uri="{FF2B5EF4-FFF2-40B4-BE49-F238E27FC236}">
                  <a16:creationId xmlns:a16="http://schemas.microsoft.com/office/drawing/2014/main" id="{19FA3085-92C0-43F3-A639-97A0205FD2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18333" y="2779934"/>
              <a:ext cx="4391309" cy="2498186"/>
            </a:xfrm>
            <a:prstGeom prst="rect">
              <a:avLst/>
            </a:prstGeom>
          </p:spPr>
        </p:pic>
        <p:sp>
          <p:nvSpPr>
            <p:cNvPr id="9" name="楕円 8"/>
            <p:cNvSpPr/>
            <p:nvPr/>
          </p:nvSpPr>
          <p:spPr>
            <a:xfrm>
              <a:off x="10357949" y="3386614"/>
              <a:ext cx="321957" cy="30638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10" name="楕円 9"/>
            <p:cNvSpPr/>
            <p:nvPr/>
          </p:nvSpPr>
          <p:spPr>
            <a:xfrm>
              <a:off x="10113963" y="3143726"/>
              <a:ext cx="294262" cy="304800"/>
            </a:xfrm>
            <a:prstGeom prst="ellipse">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11" name="楕円 10"/>
            <p:cNvSpPr/>
            <p:nvPr/>
          </p:nvSpPr>
          <p:spPr>
            <a:xfrm>
              <a:off x="9836725" y="3386614"/>
              <a:ext cx="294262" cy="304800"/>
            </a:xfrm>
            <a:prstGeom prst="ellipse">
              <a:avLst/>
            </a:prstGeom>
            <a:noFill/>
            <a:ln w="28575">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12" name="楕円 11"/>
            <p:cNvSpPr/>
            <p:nvPr/>
          </p:nvSpPr>
          <p:spPr>
            <a:xfrm>
              <a:off x="10113963" y="3630030"/>
              <a:ext cx="294262" cy="304800"/>
            </a:xfrm>
            <a:prstGeom prst="ellipse">
              <a:avLst/>
            </a:prstGeom>
            <a:noFill/>
            <a:ln w="285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13" name="楕円 12"/>
            <p:cNvSpPr/>
            <p:nvPr/>
          </p:nvSpPr>
          <p:spPr>
            <a:xfrm>
              <a:off x="8002586" y="3258025"/>
              <a:ext cx="563562" cy="561976"/>
            </a:xfrm>
            <a:prstGeom prst="ellipse">
              <a:avLst/>
            </a:prstGeom>
            <a:noFill/>
            <a:ln w="38100">
              <a:solidFill>
                <a:srgbClr val="FC88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14" name="正方形/長方形 13"/>
            <p:cNvSpPr/>
            <p:nvPr/>
          </p:nvSpPr>
          <p:spPr>
            <a:xfrm>
              <a:off x="10801349" y="3362801"/>
              <a:ext cx="784251" cy="352425"/>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パリィ</a:t>
              </a:r>
            </a:p>
          </p:txBody>
        </p:sp>
        <p:sp>
          <p:nvSpPr>
            <p:cNvPr id="15" name="正方形/長方形 14"/>
            <p:cNvSpPr/>
            <p:nvPr/>
          </p:nvSpPr>
          <p:spPr>
            <a:xfrm>
              <a:off x="9763946" y="2609797"/>
              <a:ext cx="994295" cy="352425"/>
            </a:xfrm>
            <a:prstGeom prst="rect">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ジャンプ</a:t>
              </a:r>
            </a:p>
          </p:txBody>
        </p:sp>
        <p:sp>
          <p:nvSpPr>
            <p:cNvPr id="16" name="正方形/長方形 15"/>
            <p:cNvSpPr/>
            <p:nvPr/>
          </p:nvSpPr>
          <p:spPr>
            <a:xfrm>
              <a:off x="10261093" y="4077837"/>
              <a:ext cx="649795" cy="352425"/>
            </a:xfrm>
            <a:prstGeom prst="rect">
              <a:avLst/>
            </a:prstGeom>
            <a:solidFill>
              <a:schemeClr val="tx1"/>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回避</a:t>
              </a:r>
            </a:p>
          </p:txBody>
        </p:sp>
        <p:sp>
          <p:nvSpPr>
            <p:cNvPr id="17" name="正方形/長方形 16"/>
            <p:cNvSpPr/>
            <p:nvPr/>
          </p:nvSpPr>
          <p:spPr>
            <a:xfrm>
              <a:off x="8687592" y="3348249"/>
              <a:ext cx="1047854" cy="352425"/>
            </a:xfrm>
            <a:prstGeom prst="rect">
              <a:avLst/>
            </a:prstGeom>
            <a:solidFill>
              <a:schemeClr val="tx1"/>
            </a:solidFill>
            <a:ln>
              <a:solidFill>
                <a:srgbClr val="007D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ダッシュ</a:t>
              </a:r>
            </a:p>
          </p:txBody>
        </p:sp>
        <p:cxnSp>
          <p:nvCxnSpPr>
            <p:cNvPr id="19" name="直線コネクタ 18"/>
            <p:cNvCxnSpPr>
              <a:stCxn id="15" idx="2"/>
              <a:endCxn id="10" idx="0"/>
            </p:cNvCxnSpPr>
            <p:nvPr/>
          </p:nvCxnSpPr>
          <p:spPr>
            <a:xfrm>
              <a:off x="10261094" y="2962222"/>
              <a:ext cx="0" cy="18150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a:stCxn id="14" idx="1"/>
              <a:endCxn id="9" idx="6"/>
            </p:cNvCxnSpPr>
            <p:nvPr/>
          </p:nvCxnSpPr>
          <p:spPr>
            <a:xfrm flipH="1">
              <a:off x="10679906" y="3539014"/>
              <a:ext cx="121443" cy="79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線コネクタ 24"/>
            <p:cNvCxnSpPr>
              <a:stCxn id="16" idx="0"/>
            </p:cNvCxnSpPr>
            <p:nvPr/>
          </p:nvCxnSpPr>
          <p:spPr>
            <a:xfrm flipH="1" flipV="1">
              <a:off x="10261094" y="3934830"/>
              <a:ext cx="324897" cy="143007"/>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11" idx="2"/>
              <a:endCxn id="17" idx="3"/>
            </p:cNvCxnSpPr>
            <p:nvPr/>
          </p:nvCxnSpPr>
          <p:spPr>
            <a:xfrm flipH="1" flipV="1">
              <a:off x="9735446" y="3524462"/>
              <a:ext cx="101279" cy="14552"/>
            </a:xfrm>
            <a:prstGeom prst="line">
              <a:avLst/>
            </a:prstGeom>
            <a:ln w="28575">
              <a:solidFill>
                <a:srgbClr val="007DD2"/>
              </a:solidFill>
            </a:ln>
          </p:spPr>
          <p:style>
            <a:lnRef idx="1">
              <a:schemeClr val="accent1"/>
            </a:lnRef>
            <a:fillRef idx="0">
              <a:schemeClr val="accent1"/>
            </a:fillRef>
            <a:effectRef idx="0">
              <a:schemeClr val="accent1"/>
            </a:effectRef>
            <a:fontRef idx="minor">
              <a:schemeClr val="tx1"/>
            </a:fontRef>
          </p:style>
        </p:cxnSp>
        <p:sp>
          <p:nvSpPr>
            <p:cNvPr id="31" name="楕円 30"/>
            <p:cNvSpPr/>
            <p:nvPr/>
          </p:nvSpPr>
          <p:spPr>
            <a:xfrm>
              <a:off x="9494256" y="3811332"/>
              <a:ext cx="563562" cy="561976"/>
            </a:xfrm>
            <a:prstGeom prst="ellipse">
              <a:avLst/>
            </a:prstGeom>
            <a:noFill/>
            <a:ln w="38100">
              <a:solidFill>
                <a:srgbClr val="AC75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32" name="正方形/長方形 31"/>
            <p:cNvSpPr/>
            <p:nvPr/>
          </p:nvSpPr>
          <p:spPr>
            <a:xfrm>
              <a:off x="7959469" y="2779934"/>
              <a:ext cx="649795" cy="352425"/>
            </a:xfrm>
            <a:prstGeom prst="rect">
              <a:avLst/>
            </a:prstGeom>
            <a:solidFill>
              <a:schemeClr val="tx1"/>
            </a:solidFill>
            <a:ln>
              <a:solidFill>
                <a:srgbClr val="FC88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移動</a:t>
              </a:r>
            </a:p>
          </p:txBody>
        </p:sp>
        <p:sp>
          <p:nvSpPr>
            <p:cNvPr id="33" name="正方形/長方形 32"/>
            <p:cNvSpPr/>
            <p:nvPr/>
          </p:nvSpPr>
          <p:spPr>
            <a:xfrm>
              <a:off x="9373289" y="4575978"/>
              <a:ext cx="805496" cy="352425"/>
            </a:xfrm>
            <a:prstGeom prst="rect">
              <a:avLst/>
            </a:prstGeom>
            <a:solidFill>
              <a:schemeClr val="tx1"/>
            </a:solidFill>
            <a:ln>
              <a:solidFill>
                <a:srgbClr val="AC75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カメラ</a:t>
              </a:r>
            </a:p>
          </p:txBody>
        </p:sp>
        <p:cxnSp>
          <p:nvCxnSpPr>
            <p:cNvPr id="36" name="直線コネクタ 35"/>
            <p:cNvCxnSpPr>
              <a:stCxn id="13" idx="0"/>
              <a:endCxn id="32" idx="2"/>
            </p:cNvCxnSpPr>
            <p:nvPr/>
          </p:nvCxnSpPr>
          <p:spPr>
            <a:xfrm flipV="1">
              <a:off x="8284367" y="3132359"/>
              <a:ext cx="0" cy="125666"/>
            </a:xfrm>
            <a:prstGeom prst="line">
              <a:avLst/>
            </a:prstGeom>
            <a:ln w="28575">
              <a:solidFill>
                <a:srgbClr val="FC8814"/>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a:stCxn id="33" idx="0"/>
              <a:endCxn id="31" idx="4"/>
            </p:cNvCxnSpPr>
            <p:nvPr/>
          </p:nvCxnSpPr>
          <p:spPr>
            <a:xfrm flipV="1">
              <a:off x="9776037" y="4373308"/>
              <a:ext cx="0" cy="202670"/>
            </a:xfrm>
            <a:prstGeom prst="line">
              <a:avLst/>
            </a:prstGeom>
            <a:ln w="28575">
              <a:solidFill>
                <a:srgbClr val="007DD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46059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石版">
  <a:themeElements>
    <a:clrScheme name="石版">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石版">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石版">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TM04033929[[fn=石版]]</Template>
  <TotalTime>190</TotalTime>
  <Words>283</Words>
  <Application>Microsoft Office PowerPoint</Application>
  <PresentationFormat>ワイド画面</PresentationFormat>
  <Paragraphs>59</Paragraphs>
  <Slides>8</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Calisto MT</vt:lpstr>
      <vt:lpstr>Wingdings</vt:lpstr>
      <vt:lpstr>Wingdings 2</vt:lpstr>
      <vt:lpstr>石版</vt:lpstr>
      <vt:lpstr>Endless Encore</vt:lpstr>
      <vt:lpstr>開発環境</vt:lpstr>
      <vt:lpstr>見知らぬ劇場で目覚めた主人公は…</vt:lpstr>
      <vt:lpstr>敵の攻撃をパリィで弾き返そう！</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Endless Encore</dc:title>
  <dc:creator>善原 敬子</dc:creator>
  <cp:lastModifiedBy>善原 敬子</cp:lastModifiedBy>
  <cp:revision>19</cp:revision>
  <dcterms:created xsi:type="dcterms:W3CDTF">2025-12-12T05:41:16Z</dcterms:created>
  <dcterms:modified xsi:type="dcterms:W3CDTF">2025-12-19T11:40:59Z</dcterms:modified>
</cp:coreProperties>
</file>